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4" r:id="rId3"/>
    <p:sldId id="263" r:id="rId4"/>
    <p:sldId id="261" r:id="rId5"/>
    <p:sldId id="262" r:id="rId6"/>
  </p:sldIdLst>
  <p:sldSz cx="6858000" cy="9144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420" autoAdjust="0"/>
    <p:restoredTop sz="94676" autoAdjust="0"/>
  </p:normalViewPr>
  <p:slideViewPr>
    <p:cSldViewPr>
      <p:cViewPr varScale="1">
        <p:scale>
          <a:sx n="111" d="100"/>
          <a:sy n="111" d="100"/>
        </p:scale>
        <p:origin x="192" y="28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6038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F433D-ACB8-475A-9DBB-3D1EBDB4B826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06600" y="746125"/>
            <a:ext cx="2794000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21225"/>
            <a:ext cx="5445125" cy="44719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6038" y="9440863"/>
            <a:ext cx="2949575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43651C-FA4E-4B4E-85CE-214D5592BC4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368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C43651C-FA4E-4B4E-85CE-214D5592BC47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0926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D992CD-CDBB-40CF-A1EE-0B1B8B43A805}" type="datetimeFigureOut">
              <a:rPr lang="ko-KR" altLang="en-US" smtClean="0"/>
              <a:pPr/>
              <a:t>2026. 2. 24.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01BA95-4E16-496B-8FDE-24519AB05A1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827584"/>
            <a:ext cx="10972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 err="1"/>
              <a:t>검체</a:t>
            </a:r>
            <a:r>
              <a:rPr lang="ko-KR" altLang="en-US" sz="1200" b="1" dirty="0"/>
              <a:t> 정보</a:t>
            </a:r>
            <a:endParaRPr lang="ko-KR" altLang="en-US" sz="1200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23" name="TextBox 22"/>
          <p:cNvSpPr txBox="1"/>
          <p:nvPr/>
        </p:nvSpPr>
        <p:spPr>
          <a:xfrm>
            <a:off x="260648" y="323528"/>
            <a:ext cx="62646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200" b="1" dirty="0">
                <a:latin typeface="+mn-ea"/>
              </a:rPr>
              <a:t>NGS Panel Level II Analysis Report</a:t>
            </a:r>
            <a:endParaRPr lang="ko-KR" altLang="en-US" sz="2200" b="1" dirty="0">
              <a:latin typeface="+mn-ea"/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188640" y="2339752"/>
            <a:ext cx="110318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검사결과 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221161" y="2627784"/>
            <a:ext cx="261321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1. </a:t>
            </a:r>
            <a:r>
              <a:rPr lang="en-US" altLang="ko-KR" sz="1200" b="1" dirty="0">
                <a:solidFill>
                  <a:srgbClr val="FF0000"/>
                </a:solidFill>
              </a:rPr>
              <a:t>Variants of clinical significance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24" name="Picture 5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013176" y="8503399"/>
            <a:ext cx="1512168" cy="4024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3" name="TextBox 32"/>
          <p:cNvSpPr txBox="1"/>
          <p:nvPr/>
        </p:nvSpPr>
        <p:spPr>
          <a:xfrm>
            <a:off x="116632" y="823511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260648" y="2926849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13" name="TextBox 31"/>
          <p:cNvSpPr txBox="1"/>
          <p:nvPr/>
        </p:nvSpPr>
        <p:spPr>
          <a:xfrm>
            <a:off x="188640" y="8532440"/>
            <a:ext cx="31422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800" dirty="0"/>
              <a:t>검사기관 </a:t>
            </a:r>
            <a:r>
              <a:rPr lang="en-US" altLang="ko-KR" sz="800" dirty="0"/>
              <a:t>: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 분자병리 검사실</a:t>
            </a:r>
            <a:endParaRPr lang="en-US" altLang="ko-KR" sz="800" dirty="0"/>
          </a:p>
          <a:p>
            <a:r>
              <a:rPr lang="ko-KR" altLang="en-US" sz="800" dirty="0"/>
              <a:t>서울시 서대문구 연세로 </a:t>
            </a:r>
            <a:r>
              <a:rPr lang="en-US" altLang="ko-KR" sz="800" dirty="0"/>
              <a:t>50-1 (</a:t>
            </a:r>
            <a:r>
              <a:rPr lang="ko-KR" altLang="en-US" sz="800" dirty="0"/>
              <a:t>신촌동 </a:t>
            </a:r>
            <a:r>
              <a:rPr lang="en-US" altLang="ko-KR" sz="800" dirty="0"/>
              <a:t>134) </a:t>
            </a:r>
            <a:r>
              <a:rPr lang="ko-KR" altLang="en-US" sz="800" dirty="0" err="1"/>
              <a:t>세브란스병원</a:t>
            </a:r>
            <a:r>
              <a:rPr lang="ko-KR" altLang="en-US" sz="800" dirty="0"/>
              <a:t> 병리과</a:t>
            </a:r>
            <a:endParaRPr lang="en-US" altLang="ko-KR" sz="800" dirty="0"/>
          </a:p>
          <a:p>
            <a:r>
              <a:rPr lang="en-US" altLang="ko-KR" sz="800" dirty="0"/>
              <a:t>Tel: 02-2228-2625</a:t>
            </a:r>
            <a:endParaRPr lang="ko-KR" altLang="en-US" sz="800" dirty="0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125706"/>
              </p:ext>
            </p:extLst>
          </p:nvPr>
        </p:nvGraphicFramePr>
        <p:xfrm>
          <a:off x="332656" y="3232744"/>
          <a:ext cx="6192689" cy="547200"/>
        </p:xfrm>
        <a:graphic>
          <a:graphicData uri="http://schemas.openxmlformats.org/drawingml/2006/table">
            <a:tbl>
              <a:tblPr/>
              <a:tblGrid>
                <a:gridCol w="5897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0" name="직사각형 19"/>
          <p:cNvSpPr/>
          <p:nvPr/>
        </p:nvSpPr>
        <p:spPr>
          <a:xfrm>
            <a:off x="260648" y="4150985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1" name="직사각형 20"/>
          <p:cNvSpPr/>
          <p:nvPr/>
        </p:nvSpPr>
        <p:spPr>
          <a:xfrm>
            <a:off x="260648" y="5207102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25" name="직사각형 24"/>
          <p:cNvSpPr/>
          <p:nvPr/>
        </p:nvSpPr>
        <p:spPr>
          <a:xfrm>
            <a:off x="260648" y="6263219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4806607"/>
              </p:ext>
            </p:extLst>
          </p:nvPr>
        </p:nvGraphicFramePr>
        <p:xfrm>
          <a:off x="332656" y="5511752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255715"/>
              </p:ext>
            </p:extLst>
          </p:nvPr>
        </p:nvGraphicFramePr>
        <p:xfrm>
          <a:off x="332656" y="4453447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0" name="직사각형 29"/>
          <p:cNvSpPr/>
          <p:nvPr/>
        </p:nvSpPr>
        <p:spPr>
          <a:xfrm>
            <a:off x="260648" y="7319337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Other Biomarkers</a:t>
            </a:r>
            <a:endParaRPr lang="ko-KR" altLang="en-US" sz="1200" dirty="0"/>
          </a:p>
        </p:txBody>
      </p:sp>
      <p:graphicFrame>
        <p:nvGraphicFramePr>
          <p:cNvPr id="31" name="표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859408"/>
              </p:ext>
            </p:extLst>
          </p:nvPr>
        </p:nvGraphicFramePr>
        <p:xfrm>
          <a:off x="332657" y="6568183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4" name="Table 3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1788895"/>
              </p:ext>
            </p:extLst>
          </p:nvPr>
        </p:nvGraphicFramePr>
        <p:xfrm>
          <a:off x="259200" y="1116000"/>
          <a:ext cx="6336000" cy="69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정보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성별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나이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Unit NO.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환자명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채취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원발 장기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진단</a:t>
                      </a:r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25200" marR="252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" name="Table 3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331037"/>
              </p:ext>
            </p:extLst>
          </p:nvPr>
        </p:nvGraphicFramePr>
        <p:xfrm>
          <a:off x="259200" y="1818000"/>
          <a:ext cx="6336000" cy="5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1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의뢰의 소속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 유형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검체의 적절성여부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검체접수일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결과보고일</a:t>
                      </a:r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7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7904583"/>
              </p:ext>
            </p:extLst>
          </p:nvPr>
        </p:nvGraphicFramePr>
        <p:xfrm>
          <a:off x="331200" y="7668000"/>
          <a:ext cx="6192000" cy="6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4000">
                  <a:extLst>
                    <a:ext uri="{9D8B030D-6E8A-4147-A177-3AD203B41FA5}">
                      <a16:colId xmlns:a16="http://schemas.microsoft.com/office/drawing/2014/main" val="117521411"/>
                    </a:ext>
                  </a:extLst>
                </a:gridCol>
              </a:tblGrid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Estimated Tumor Mutation Burden</a:t>
                      </a:r>
                      <a:r>
                        <a:rPr lang="en-US" dirty="0"/>
                        <a:t> </a:t>
                      </a:r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(TMB)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Microsatellite Instability (MSI)</a:t>
                      </a:r>
                      <a:r>
                        <a:rPr lang="ko-KR" altLang="en-US" dirty="0"/>
                        <a:t> </a:t>
                      </a:r>
                      <a:endParaRPr lang="en-US" dirty="0"/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(% Unstable MSI Sites)</a:t>
                      </a:r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Genomic Instability Score (GIS)</a:t>
                      </a:r>
                    </a:p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(% LOH + TAI + LST)</a:t>
                      </a:r>
                      <a:endParaRPr dirty="0"/>
                    </a:p>
                  </a:txBody>
                  <a:tcPr marL="46800" marR="46800" marT="46800" marB="4680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3D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/</a:t>
                      </a:r>
                      <a:r>
                        <a:rPr dirty="0" err="1"/>
                        <a:t>Megabase</a:t>
                      </a: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 %</a:t>
                      </a:r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marL="46800" marR="46800" marT="46800" marB="46800" anchor="ctr"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264514"/>
              </p:ext>
            </p:extLst>
          </p:nvPr>
        </p:nvGraphicFramePr>
        <p:xfrm>
          <a:off x="280355" y="784632"/>
          <a:ext cx="6316998" cy="835200"/>
        </p:xfrm>
        <a:graphic>
          <a:graphicData uri="http://schemas.openxmlformats.org/drawingml/2006/table">
            <a:tbl>
              <a:tblPr/>
              <a:tblGrid>
                <a:gridCol w="6016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68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841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MUTATION TYPE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AA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VAF (%)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HGVSc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HGVSp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effectLst/>
                        <a:latin typeface="Arial" pitchFamily="34" charset="0"/>
                        <a:ea typeface="+mn-ea"/>
                        <a:cs typeface="Arial" pitchFamily="34" charset="0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800" b="1" i="0" u="none" strike="noStrike" kern="1200" dirty="0">
                        <a:solidFill>
                          <a:srgbClr val="FF0000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직사각형 25"/>
          <p:cNvSpPr/>
          <p:nvPr/>
        </p:nvSpPr>
        <p:spPr>
          <a:xfrm>
            <a:off x="221161" y="179512"/>
            <a:ext cx="279275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2. Variants of unknown significance</a:t>
            </a:r>
            <a:endParaRPr lang="ko-KR" altLang="en-US" sz="1200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260648" y="478577"/>
            <a:ext cx="35283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- SNVs &amp; </a:t>
            </a:r>
            <a:r>
              <a:rPr lang="en-US" altLang="ko-KR" sz="1200" b="1" dirty="0" err="1"/>
              <a:t>Indels</a:t>
            </a:r>
            <a:endParaRPr lang="ko-KR" altLang="en-US" sz="1200" b="1" dirty="0"/>
          </a:p>
        </p:txBody>
      </p:sp>
      <p:sp>
        <p:nvSpPr>
          <p:cNvPr id="29" name="직사각형 28"/>
          <p:cNvSpPr/>
          <p:nvPr/>
        </p:nvSpPr>
        <p:spPr>
          <a:xfrm>
            <a:off x="260648" y="4588331"/>
            <a:ext cx="12234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Fusion gene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0" name="직사각형 29"/>
          <p:cNvSpPr/>
          <p:nvPr/>
        </p:nvSpPr>
        <p:spPr>
          <a:xfrm>
            <a:off x="260648" y="5533859"/>
            <a:ext cx="2026067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Copy number variation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sp>
        <p:nvSpPr>
          <p:cNvPr id="31" name="직사각형 30"/>
          <p:cNvSpPr/>
          <p:nvPr/>
        </p:nvSpPr>
        <p:spPr>
          <a:xfrm>
            <a:off x="268532" y="7424914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- Splice variant</a:t>
            </a:r>
            <a:r>
              <a:rPr lang="en-US" altLang="ko-KR" sz="1200" dirty="0"/>
              <a:t>:</a:t>
            </a:r>
            <a:endParaRPr lang="ko-KR" altLang="en-US" sz="1200" dirty="0"/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0226063"/>
              </p:ext>
            </p:extLst>
          </p:nvPr>
        </p:nvGraphicFramePr>
        <p:xfrm>
          <a:off x="332656" y="5834953"/>
          <a:ext cx="6192688" cy="504418"/>
        </p:xfrm>
        <a:graphic>
          <a:graphicData uri="http://schemas.openxmlformats.org/drawingml/2006/table">
            <a:tbl>
              <a:tblPr/>
              <a:tblGrid>
                <a:gridCol w="807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54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501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097282"/>
              </p:ext>
            </p:extLst>
          </p:nvPr>
        </p:nvGraphicFramePr>
        <p:xfrm>
          <a:off x="332656" y="4889426"/>
          <a:ext cx="6192688" cy="504418"/>
        </p:xfrm>
        <a:graphic>
          <a:graphicData uri="http://schemas.openxmlformats.org/drawingml/2006/table">
            <a:tbl>
              <a:tblPr/>
              <a:tblGrid>
                <a:gridCol w="9527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672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GENE FUSION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2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FUSION SUPPORTING READS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rgbClr val="FF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5625" marR="5625" marT="56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5783642"/>
              </p:ext>
            </p:extLst>
          </p:nvPr>
        </p:nvGraphicFramePr>
        <p:xfrm>
          <a:off x="332657" y="7726008"/>
          <a:ext cx="6192688" cy="518400"/>
        </p:xfrm>
        <a:graphic>
          <a:graphicData uri="http://schemas.openxmlformats.org/drawingml/2006/table">
            <a:tbl>
              <a:tblPr/>
              <a:tblGrid>
                <a:gridCol w="620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7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4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121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9200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GENE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AFFECTED</a:t>
                      </a:r>
                      <a:r>
                        <a:rPr lang="ko-KR" alt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EXON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 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BREAKPOINT</a:t>
                      </a:r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SPLICE SUPPORTING</a:t>
                      </a:r>
                      <a:r>
                        <a:rPr lang="en-US" sz="800" b="1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READS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9200"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800" b="1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직사각형 20"/>
          <p:cNvSpPr/>
          <p:nvPr/>
        </p:nvSpPr>
        <p:spPr>
          <a:xfrm>
            <a:off x="260648" y="8471465"/>
            <a:ext cx="298886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b="1" dirty="0"/>
              <a:t>3. Failed gene: </a:t>
            </a:r>
            <a:r>
              <a:rPr lang="en-US" altLang="ko-KR" sz="1200" dirty="0"/>
              <a:t>None</a:t>
            </a:r>
            <a:endParaRPr lang="ko-KR" altLang="en-US" sz="1200" dirty="0"/>
          </a:p>
        </p:txBody>
      </p:sp>
      <p:sp>
        <p:nvSpPr>
          <p:cNvPr id="13" name="직사각형 12"/>
          <p:cNvSpPr/>
          <p:nvPr/>
        </p:nvSpPr>
        <p:spPr>
          <a:xfrm>
            <a:off x="260648" y="6479387"/>
            <a:ext cx="28471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- Large rearrangements in BRCA1/2</a:t>
            </a:r>
            <a:r>
              <a:rPr lang="en-US" altLang="ko-KR" sz="1200" dirty="0"/>
              <a:t>:</a:t>
            </a:r>
            <a:endParaRPr lang="ko-KR" altLang="en-US" sz="1200" b="1" dirty="0"/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89699"/>
              </p:ext>
            </p:extLst>
          </p:nvPr>
        </p:nvGraphicFramePr>
        <p:xfrm>
          <a:off x="332656" y="6780480"/>
          <a:ext cx="6192688" cy="504418"/>
        </p:xfrm>
        <a:graphic>
          <a:graphicData uri="http://schemas.openxmlformats.org/drawingml/2006/table">
            <a:tbl>
              <a:tblPr/>
              <a:tblGrid>
                <a:gridCol w="72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1688187205"/>
                    </a:ext>
                  </a:extLst>
                </a:gridCol>
                <a:gridCol w="1512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605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GENE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LOCATION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AFFECTED EXON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FOLD CHANGE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1" i="0" u="none" strike="noStrike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ESTIMATED COPY NUMBER</a:t>
                      </a:r>
                    </a:p>
                  </a:txBody>
                  <a:tcPr marL="5625" marR="5625" marT="56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360"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ko-KR" sz="9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90989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7" name="직사각형 16"/>
          <p:cNvSpPr/>
          <p:nvPr/>
        </p:nvSpPr>
        <p:spPr>
          <a:xfrm>
            <a:off x="280354" y="323528"/>
            <a:ext cx="110799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</a:t>
            </a:r>
            <a:r>
              <a:rPr lang="ko-KR" altLang="fr-FR" sz="1200" b="1" dirty="0"/>
              <a:t> </a:t>
            </a:r>
            <a:r>
              <a:rPr lang="fr-FR" altLang="ko-KR" sz="1200" b="1" dirty="0"/>
              <a:t>Comment</a:t>
            </a:r>
            <a:endParaRPr lang="ko-KR" alt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223365" y="8456657"/>
            <a:ext cx="644599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 </a:t>
            </a:r>
            <a:r>
              <a:rPr lang="ko-KR" altLang="en-US" sz="900" dirty="0">
                <a:latin typeface="+mj-lt"/>
                <a:ea typeface="굴림" pitchFamily="50" charset="-127"/>
              </a:rPr>
              <a:t>본 검사의 </a:t>
            </a:r>
            <a:r>
              <a:rPr lang="en-US" altLang="ko-KR" sz="900" dirty="0">
                <a:latin typeface="+mj-lt"/>
                <a:ea typeface="굴림" pitchFamily="50" charset="-127"/>
              </a:rPr>
              <a:t>raw data (BAM, FASTQ, VCF)</a:t>
            </a:r>
            <a:r>
              <a:rPr lang="ko-KR" altLang="en-US" sz="900" dirty="0">
                <a:latin typeface="+mj-lt"/>
                <a:ea typeface="굴림" pitchFamily="50" charset="-127"/>
              </a:rPr>
              <a:t> 파일은 분자 병리 검사실 내 병리과 서버 컴퓨터에서 보관</a:t>
            </a:r>
            <a:r>
              <a:rPr lang="en-US" altLang="ko-KR" sz="900" dirty="0">
                <a:latin typeface="+mj-lt"/>
                <a:ea typeface="굴림" pitchFamily="50" charset="-127"/>
              </a:rPr>
              <a:t>, </a:t>
            </a:r>
            <a:r>
              <a:rPr lang="ko-KR" altLang="en-US" sz="900" dirty="0">
                <a:latin typeface="+mj-lt"/>
                <a:ea typeface="굴림" pitchFamily="50" charset="-127"/>
              </a:rPr>
              <a:t>관리되고 있습니다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  <a:endParaRPr lang="en-US" altLang="ko-KR" sz="900" dirty="0">
              <a:latin typeface="+mj-lt"/>
              <a:ea typeface="굴림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900" dirty="0">
                <a:latin typeface="+mj-lt"/>
                <a:ea typeface="굴림" pitchFamily="50" charset="-127"/>
              </a:rPr>
              <a:t>*</a:t>
            </a:r>
            <a:r>
              <a:rPr lang="ko-KR" altLang="en-US" sz="900" dirty="0">
                <a:latin typeface="+mj-lt"/>
                <a:ea typeface="굴림" pitchFamily="50" charset="-127"/>
              </a:rPr>
              <a:t> 본 검사의 결과는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검체에</a:t>
            </a:r>
            <a:r>
              <a:rPr lang="ko-KR" altLang="en-US" sz="900" dirty="0">
                <a:latin typeface="+mj-lt"/>
                <a:ea typeface="굴림" pitchFamily="50" charset="-127"/>
              </a:rPr>
              <a:t> 포함된 정상세포와 암세포의 비율에 따라  </a:t>
            </a:r>
            <a:r>
              <a:rPr lang="ko-KR" altLang="en-US" sz="900" dirty="0" err="1">
                <a:latin typeface="+mj-lt"/>
                <a:ea typeface="굴림" pitchFamily="50" charset="-127"/>
              </a:rPr>
              <a:t>위음성의</a:t>
            </a:r>
            <a:r>
              <a:rPr lang="ko-KR" altLang="en-US" sz="900" dirty="0">
                <a:latin typeface="+mj-lt"/>
                <a:ea typeface="굴림" pitchFamily="50" charset="-127"/>
              </a:rPr>
              <a:t> 결과를 배제 할 수 없습니다</a:t>
            </a:r>
            <a:r>
              <a:rPr lang="en-US" altLang="ko-KR" sz="900" dirty="0">
                <a:latin typeface="+mj-lt"/>
                <a:ea typeface="굴림" pitchFamily="50" charset="-127"/>
              </a:rPr>
              <a:t>.</a:t>
            </a:r>
            <a:r>
              <a:rPr lang="ko-KR" altLang="en-US" sz="900" dirty="0">
                <a:latin typeface="+mj-lt"/>
                <a:ea typeface="굴림" pitchFamily="50" charset="-127"/>
              </a:rPr>
              <a:t>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354" y="755576"/>
            <a:ext cx="6316999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endParaRPr lang="en-US" altLang="ko-KR" sz="800" dirty="0"/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*</a:t>
            </a:r>
            <a:r>
              <a:rPr lang="ko-KR" altLang="en-US" sz="800" dirty="0"/>
              <a:t>본 기관의 유전자 정보 검색 및 해석은 </a:t>
            </a:r>
            <a:r>
              <a:rPr lang="en-US" altLang="ko-KR" sz="800" dirty="0" err="1"/>
              <a:t>dbSNP</a:t>
            </a:r>
            <a:r>
              <a:rPr lang="en-US" altLang="ko-KR" sz="800" dirty="0"/>
              <a:t>, COSMIC, </a:t>
            </a:r>
            <a:r>
              <a:rPr lang="en-US" altLang="ko-KR" sz="800" dirty="0" err="1"/>
              <a:t>ClinVar</a:t>
            </a:r>
            <a:r>
              <a:rPr lang="en-US" altLang="ko-KR" sz="800" dirty="0"/>
              <a:t>, c-</a:t>
            </a:r>
            <a:r>
              <a:rPr lang="en-US" altLang="ko-KR" sz="800" dirty="0" err="1"/>
              <a:t>bioportal</a:t>
            </a:r>
            <a:r>
              <a:rPr lang="ko-KR" altLang="en-US" sz="800" dirty="0"/>
              <a:t>  등의 유전자 정보검색 사이트를 참고로 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</a:t>
            </a:r>
            <a:r>
              <a:rPr lang="en-US" altLang="ko-KR" sz="800" dirty="0"/>
              <a:t>, </a:t>
            </a:r>
            <a:r>
              <a:rPr lang="ko-KR" altLang="en-US" sz="800" dirty="0"/>
              <a:t>발견된 유전자 변이의 임상적 의미에 대하여</a:t>
            </a:r>
            <a:r>
              <a:rPr lang="en-US" altLang="ko-KR" sz="800" dirty="0"/>
              <a:t>,</a:t>
            </a:r>
            <a:r>
              <a:rPr lang="ko-KR" altLang="en-US" sz="800" dirty="0"/>
              <a:t> 아래 참고 문헌에 기반한 </a:t>
            </a:r>
            <a:r>
              <a:rPr lang="en-US" altLang="ko-KR" sz="800" dirty="0"/>
              <a:t>4</a:t>
            </a:r>
            <a:r>
              <a:rPr lang="ko-KR" altLang="en-US" sz="800" dirty="0"/>
              <a:t>단계 시스템 </a:t>
            </a:r>
            <a:r>
              <a:rPr lang="en-US" altLang="ko-KR" sz="800" dirty="0"/>
              <a:t>(Tier I: Strong clinical significance, Tier II: Potential  Clinical significance, Tier III: Unknown Clinical significance, Tier IV: Benign or Likely Benign) </a:t>
            </a:r>
            <a:r>
              <a:rPr lang="ko-KR" altLang="en-US" sz="800" dirty="0"/>
              <a:t>을 적용하여 보고하고 있습니다</a:t>
            </a:r>
            <a:r>
              <a:rPr lang="en-US" altLang="ko-KR" sz="800" dirty="0"/>
              <a:t>. </a:t>
            </a:r>
            <a:r>
              <a:rPr lang="ko-KR" altLang="en-US" sz="800" dirty="0"/>
              <a:t>또한 </a:t>
            </a:r>
            <a:r>
              <a:rPr lang="en-US" altLang="ko-KR" sz="800" dirty="0"/>
              <a:t>normal cell sequencing</a:t>
            </a:r>
            <a:r>
              <a:rPr lang="ko-KR" altLang="en-US" sz="800" dirty="0"/>
              <a:t>이 이루어지지 않아 일부 변이의 경우 </a:t>
            </a:r>
            <a:r>
              <a:rPr lang="en-US" altLang="ko-KR" sz="800" dirty="0"/>
              <a:t>germline polymorphism</a:t>
            </a:r>
            <a:r>
              <a:rPr lang="ko-KR" altLang="en-US" sz="800" dirty="0"/>
              <a:t>의 가능성을 배제할 수 없습니다</a:t>
            </a:r>
            <a:r>
              <a:rPr lang="en-US" altLang="ko-KR" sz="800" dirty="0"/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800" dirty="0"/>
              <a:t>Standards and Guidelines for the Interpretation and Reporting of Sequence Variants in Cancer. A Joint Consensus Recommendation of the Association for Molecular Pathology, American Society of Clinical Oncology and College of American Pathologists. </a:t>
            </a:r>
            <a:r>
              <a:rPr lang="it-IT" altLang="ko-KR" sz="800" dirty="0"/>
              <a:t>J Mol Diagn. 2017; 19(1):4-23.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628696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sp>
        <p:nvSpPr>
          <p:cNvPr id="12" name="직사각형 11"/>
          <p:cNvSpPr/>
          <p:nvPr/>
        </p:nvSpPr>
        <p:spPr>
          <a:xfrm>
            <a:off x="188640" y="4799057"/>
            <a:ext cx="132440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Specification</a:t>
            </a:r>
            <a:endParaRPr lang="ko-KR" altLang="en-US" sz="1200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332656" y="467544"/>
            <a:ext cx="6192688" cy="52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검사시약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 err="1">
                <a:latin typeface="+mj-lt"/>
              </a:rPr>
              <a:t>AllPrep</a:t>
            </a:r>
            <a:r>
              <a:rPr lang="en-US" altLang="ko-KR" sz="1000" dirty="0">
                <a:latin typeface="+mj-lt"/>
              </a:rPr>
              <a:t> DNA/RNA FFPE Kit (50) [Qiagen], TruSight™ Oncology 500</a:t>
            </a:r>
            <a:r>
              <a:rPr lang="ko-KR" altLang="en-US" sz="1000" dirty="0">
                <a:latin typeface="+mj-lt"/>
              </a:rPr>
              <a:t> </a:t>
            </a:r>
            <a:r>
              <a:rPr lang="en-US" altLang="ko-KR" sz="1000" dirty="0">
                <a:latin typeface="+mj-lt"/>
              </a:rPr>
              <a:t>v2 kit [Illumina]</a:t>
            </a:r>
          </a:p>
          <a:p>
            <a:pPr marL="228600" indent="-228600">
              <a:lnSpc>
                <a:spcPct val="150000"/>
              </a:lnSpc>
            </a:pPr>
            <a:r>
              <a:rPr lang="ko-KR" altLang="en-US" sz="1000" b="1" dirty="0">
                <a:latin typeface="+mj-lt"/>
              </a:rPr>
              <a:t>검사방법 </a:t>
            </a:r>
            <a:r>
              <a:rPr lang="en-US" altLang="ko-KR" sz="1000" b="1" dirty="0">
                <a:latin typeface="+mj-lt"/>
              </a:rPr>
              <a:t>: </a:t>
            </a:r>
            <a:r>
              <a:rPr lang="en-US" altLang="ko-KR" sz="1000" dirty="0"/>
              <a:t>NGS targeted DNA/RNA sequencing (Library : Hybrid capture)</a:t>
            </a:r>
            <a:endParaRPr lang="en-US" altLang="ko-KR" sz="1000" dirty="0">
              <a:latin typeface="+mj-lt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88640" y="262553"/>
            <a:ext cx="10631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ko-KR" altLang="en-US" sz="1200" b="1" dirty="0"/>
              <a:t>검사정보</a:t>
            </a:r>
            <a:r>
              <a:rPr lang="en-US" altLang="ko-KR" sz="1200" b="1" dirty="0"/>
              <a:t> 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188640" y="4139952"/>
            <a:ext cx="17259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Analysis Program </a:t>
            </a:r>
            <a:endParaRPr lang="ko-KR" altLang="en-US" sz="1200" b="1" dirty="0"/>
          </a:p>
        </p:txBody>
      </p:sp>
      <p:sp>
        <p:nvSpPr>
          <p:cNvPr id="18" name="직사각형 17"/>
          <p:cNvSpPr/>
          <p:nvPr/>
        </p:nvSpPr>
        <p:spPr>
          <a:xfrm>
            <a:off x="188640" y="1547664"/>
            <a:ext cx="137768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Filter history</a:t>
            </a:r>
            <a:r>
              <a:rPr lang="ko-KR" altLang="en-US" sz="1200" b="1" dirty="0"/>
              <a:t> </a:t>
            </a:r>
          </a:p>
        </p:txBody>
      </p:sp>
      <p:sp>
        <p:nvSpPr>
          <p:cNvPr id="21" name="Rectangle 1"/>
          <p:cNvSpPr>
            <a:spLocks noChangeArrowheads="1"/>
          </p:cNvSpPr>
          <p:nvPr/>
        </p:nvSpPr>
        <p:spPr bwMode="auto">
          <a:xfrm>
            <a:off x="332656" y="1743498"/>
            <a:ext cx="6336704" cy="5242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Include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b="0" i="0" u="none" strike="noStrike" cap="none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Exonic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,</a:t>
            </a:r>
            <a:r>
              <a:rPr kumimoji="1" lang="en-US" altLang="ko-KR" sz="1000" b="0" i="0" u="none" strike="noStrike" cap="none" normalizeH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Illumina Q.C Filter PASS</a:t>
            </a:r>
            <a:r>
              <a:rPr kumimoji="1" lang="en-US" altLang="ko-KR" sz="1000" dirty="0">
                <a:ea typeface="맑은 고딕" pitchFamily="50" charset="-127"/>
                <a:cs typeface="Arial" pitchFamily="34" charset="0"/>
              </a:rPr>
              <a:t>, Fold change &lt;0.5 or &gt;1.5 </a:t>
            </a:r>
            <a:endParaRPr kumimoji="1" lang="en-US" altLang="ko-KR" sz="1000" dirty="0">
              <a:latin typeface="+mj-lt"/>
              <a:ea typeface="굴림" pitchFamily="50" charset="-127"/>
              <a:cs typeface="Arial" pitchFamily="34" charset="0"/>
            </a:endParaRPr>
          </a:p>
          <a:p>
            <a:pPr lvl="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1" lang="en-US" altLang="ko-KR" sz="1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Exclude :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 </a:t>
            </a:r>
            <a:r>
              <a:rPr kumimoji="1" lang="en-US" altLang="ko-KR" sz="1000" dirty="0">
                <a:solidFill>
                  <a:srgbClr val="000000"/>
                </a:solidFill>
                <a:latin typeface="+mj-lt"/>
                <a:ea typeface="맑은 고딕" pitchFamily="50" charset="-127"/>
                <a:cs typeface="Arial" pitchFamily="34" charset="0"/>
              </a:rPr>
              <a:t>S</a:t>
            </a:r>
            <a:r>
              <a:rPr kumimoji="1" lang="en-US" altLang="ko-KR" sz="10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+mj-lt"/>
                <a:ea typeface="맑은 고딕" pitchFamily="50" charset="-127"/>
                <a:cs typeface="Arial" pitchFamily="34" charset="0"/>
              </a:rPr>
              <a:t>ynonymous, VAF &lt;3%, total depth &lt;100, refer depth=0 </a:t>
            </a:r>
            <a:endParaRPr kumimoji="1" lang="en-US" altLang="ko-KR" sz="1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  <a:ea typeface="굴림" pitchFamily="50" charset="-127"/>
              <a:cs typeface="굴림" pitchFamily="50" charset="-127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188640" y="2843808"/>
            <a:ext cx="644215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Q.C</a:t>
            </a:r>
            <a:endParaRPr lang="ko-KR" altLang="en-US" sz="1200" b="1" dirty="0"/>
          </a:p>
        </p:txBody>
      </p:sp>
      <p:sp>
        <p:nvSpPr>
          <p:cNvPr id="26" name="직사각형 25"/>
          <p:cNvSpPr/>
          <p:nvPr/>
        </p:nvSpPr>
        <p:spPr>
          <a:xfrm>
            <a:off x="188640" y="2267744"/>
            <a:ext cx="1742785" cy="276999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200" b="1" dirty="0"/>
              <a:t>▣ DNA, RNA </a:t>
            </a:r>
            <a:r>
              <a:rPr lang="en-US" altLang="ko-KR" sz="700" b="1" dirty="0"/>
              <a:t>(</a:t>
            </a:r>
            <a:r>
              <a:rPr lang="en-US" altLang="ko-KR" sz="700" b="1" dirty="0" err="1"/>
              <a:t>Qubit</a:t>
            </a:r>
            <a:r>
              <a:rPr lang="en-US" altLang="ko-KR" sz="700" b="1" dirty="0"/>
              <a:t> </a:t>
            </a:r>
            <a:r>
              <a:rPr lang="ko-KR" altLang="en-US" sz="700" b="1" dirty="0"/>
              <a:t>농도</a:t>
            </a:r>
            <a:r>
              <a:rPr lang="en-US" altLang="ko-KR" sz="700" b="1" dirty="0"/>
              <a:t>)</a:t>
            </a:r>
            <a:endParaRPr lang="ko-KR" altLang="en-US" sz="700" b="1" dirty="0"/>
          </a:p>
        </p:txBody>
      </p:sp>
      <p:sp>
        <p:nvSpPr>
          <p:cNvPr id="8" name="직사각형 7"/>
          <p:cNvSpPr/>
          <p:nvPr/>
        </p:nvSpPr>
        <p:spPr>
          <a:xfrm>
            <a:off x="404664" y="4427984"/>
            <a:ext cx="4738836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/>
              <a:t>DRAGEN TSO500 v2</a:t>
            </a:r>
            <a:r>
              <a:rPr lang="en-US" altLang="ko-KR" sz="1050" dirty="0"/>
              <a:t> ( Workflow Version </a:t>
            </a:r>
            <a:r>
              <a:rPr lang="en-US" altLang="ko-KR" sz="1050"/>
              <a:t>: 2.5.3 </a:t>
            </a:r>
            <a:r>
              <a:rPr lang="en-US" altLang="ko-KR" sz="1050" dirty="0"/>
              <a:t>)</a:t>
            </a:r>
            <a:endParaRPr lang="ko-KR" altLang="en-US" sz="1050" dirty="0"/>
          </a:p>
        </p:txBody>
      </p:sp>
      <p:sp>
        <p:nvSpPr>
          <p:cNvPr id="14" name="TextBox 13"/>
          <p:cNvSpPr txBox="1"/>
          <p:nvPr/>
        </p:nvSpPr>
        <p:spPr>
          <a:xfrm>
            <a:off x="332656" y="1115616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Reference genome : </a:t>
            </a:r>
            <a:r>
              <a:rPr lang="en-US" altLang="ko-KR" sz="1000" dirty="0" err="1">
                <a:latin typeface="+mj-lt"/>
              </a:rPr>
              <a:t>Homo_sapiens</a:t>
            </a:r>
            <a:r>
              <a:rPr lang="en-US" altLang="ko-KR" sz="1000" dirty="0">
                <a:latin typeface="+mj-lt"/>
              </a:rPr>
              <a:t>/ UCSC/ hg19 </a:t>
            </a:r>
            <a:endParaRPr lang="ko-KR" altLang="en-US" sz="1000" dirty="0">
              <a:latin typeface="+mj-lt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60000" y="2555776"/>
            <a:ext cx="2669320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/>
            </a:pPr>
            <a:r>
              <a:rPr dirty="0"/>
              <a:t>DNA (ng/</a:t>
            </a:r>
            <a:r>
              <a:rPr dirty="0" err="1"/>
              <a:t>ul</a:t>
            </a:r>
            <a:r>
              <a:rPr dirty="0"/>
              <a:t>) : </a:t>
            </a:r>
            <a:r>
              <a:rPr lang="en-US" dirty="0"/>
              <a:t>                    </a:t>
            </a:r>
            <a:r>
              <a:rPr dirty="0"/>
              <a:t>RNA (ng/</a:t>
            </a:r>
            <a:r>
              <a:rPr dirty="0" err="1"/>
              <a:t>ul</a:t>
            </a:r>
            <a:r>
              <a:rPr dirty="0"/>
              <a:t>) :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045930"/>
              </p:ext>
            </p:extLst>
          </p:nvPr>
        </p:nvGraphicFramePr>
        <p:xfrm>
          <a:off x="406799" y="3131840"/>
          <a:ext cx="3340800" cy="975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5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Metric (UOM)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t>LSL Guideline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PCT_PF_READS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PCT_Q30_R1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PCT_Q30_R2 (%)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t>80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331200" y="971600"/>
            <a:ext cx="726481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/>
            </a:pPr>
            <a:r>
              <a:rPr dirty="0" err="1"/>
              <a:t>검사기기</a:t>
            </a:r>
            <a:r>
              <a:rPr b="0" dirty="0"/>
              <a:t>: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8C391A6-9BA7-92B3-B2CA-1DB0F1442C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5924393"/>
              </p:ext>
            </p:extLst>
          </p:nvPr>
        </p:nvGraphicFramePr>
        <p:xfrm>
          <a:off x="653244" y="5160704"/>
          <a:ext cx="5551512" cy="3659768"/>
        </p:xfrm>
        <a:graphic>
          <a:graphicData uri="http://schemas.openxmlformats.org/drawingml/2006/table">
            <a:tbl>
              <a:tblPr/>
              <a:tblGrid>
                <a:gridCol w="1734848">
                  <a:extLst>
                    <a:ext uri="{9D8B030D-6E8A-4147-A177-3AD203B41FA5}">
                      <a16:colId xmlns:a16="http://schemas.microsoft.com/office/drawing/2014/main" val="620024325"/>
                    </a:ext>
                  </a:extLst>
                </a:gridCol>
                <a:gridCol w="3816664">
                  <a:extLst>
                    <a:ext uri="{9D8B030D-6E8A-4147-A177-3AD203B41FA5}">
                      <a16:colId xmlns:a16="http://schemas.microsoft.com/office/drawing/2014/main" val="2350458617"/>
                    </a:ext>
                  </a:extLst>
                </a:gridCol>
              </a:tblGrid>
              <a:tr h="246616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Parameter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TruSight Oncology 500 v2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0065761"/>
                  </a:ext>
                </a:extLst>
              </a:tr>
              <a:tr h="17188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System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NextSeq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550Dx or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sz="1000" b="0" i="0" u="none" strike="noStrike" baseline="0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NovaSeq</a:t>
                      </a:r>
                      <a:r>
                        <a:rPr lang="en-US" sz="1000" b="0" i="0" u="none" strike="noStrike" baseline="0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6000Dx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(research mode)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4351669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Panel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pl-P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1.94 Mb DNA, 358 kb RNA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~25K SNPs HRD</a:t>
                      </a:r>
                      <a:endParaRPr lang="pl-PL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7067872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 ng total (as low as 10 ng)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0030700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 ng total (as low as 20 ng)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4362700"/>
                  </a:ext>
                </a:extLst>
              </a:tr>
              <a:tr h="194768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FFPE input requirement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Minimum recommendation of 2 ㎣ from FFPE tissue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511890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Total assay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3-4 days from nucleic acid to variant report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3408751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run time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19~24 hours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1322876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Sequence </a:t>
                      </a: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 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 X 101 cycles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302458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 size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 or 48 samples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6282430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Sample throughput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 or 16 or 32 samples per run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2109860"/>
                  </a:ext>
                </a:extLst>
              </a:tr>
              <a:tr h="14023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Small variants: 5% VAF</a:t>
                      </a:r>
                    </a:p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fusions: 17 supporting reads</a:t>
                      </a:r>
                    </a:p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CNVs: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 amplification: 1.8-fold change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 deletions: 0.5-fold change</a:t>
                      </a:r>
                    </a:p>
                    <a:p>
                      <a:pPr marL="171450" indent="-171450" algn="l" fontAlgn="ctr">
                        <a:buFont typeface="Wingdings" panose="05000000000000000000" pitchFamily="2" charset="2"/>
                        <a:buChar char="Ø"/>
                      </a:pPr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 large rearrangement (≥ 3 exons): 25% VAF</a:t>
                      </a:r>
                    </a:p>
                    <a:p>
                      <a:pPr marL="171450" marR="0" lvl="0" indent="-17145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Ø"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BRCA large rearrangement (&lt; 3 exons): 41% VAF</a:t>
                      </a: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HRD GIS: 23% tumor content</a:t>
                      </a:r>
                    </a:p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MSI-H: 20% tumor content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9239283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sensitivity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&gt;95% for all variant types at limit of detection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9855862"/>
                  </a:ext>
                </a:extLst>
              </a:tr>
              <a:tr h="1644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Analytical specificity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&gt;99.99%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364260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56F99AA-1EBB-8EEE-3CB4-C1D2C1330D60}"/>
              </a:ext>
            </a:extLst>
          </p:cNvPr>
          <p:cNvSpPr txBox="1"/>
          <p:nvPr/>
        </p:nvSpPr>
        <p:spPr>
          <a:xfrm>
            <a:off x="332656" y="1326258"/>
            <a:ext cx="6192688" cy="2934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150000"/>
              </a:lnSpc>
            </a:pPr>
            <a:r>
              <a:rPr lang="en-US" altLang="ko-KR" sz="1000" b="1" dirty="0">
                <a:latin typeface="+mj-lt"/>
              </a:rPr>
              <a:t>Batch :</a:t>
            </a:r>
            <a:endParaRPr lang="ko-KR" altLang="en-US" sz="1000" dirty="0">
              <a:latin typeface="+mj-lt"/>
            </a:endParaRPr>
          </a:p>
        </p:txBody>
      </p:sp>
      <p:graphicFrame>
        <p:nvGraphicFramePr>
          <p:cNvPr id="7" name="Table 27">
            <a:extLst>
              <a:ext uri="{FF2B5EF4-FFF2-40B4-BE49-F238E27FC236}">
                <a16:creationId xmlns:a16="http://schemas.microsoft.com/office/drawing/2014/main" id="{46FEC7AC-7F98-22A2-51C6-9850135D5B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24854"/>
              </p:ext>
            </p:extLst>
          </p:nvPr>
        </p:nvGraphicFramePr>
        <p:xfrm>
          <a:off x="3659286" y="3059780"/>
          <a:ext cx="2968428" cy="883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2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0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9700">
                <a:tc>
                  <a:txBody>
                    <a:bodyPr/>
                    <a:lstStyle/>
                    <a:p>
                      <a:pPr algn="l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Pathological estimation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SNP based estimation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Tumor fraction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00">
                <a:tc>
                  <a:txBody>
                    <a:bodyPr/>
                    <a:lstStyle/>
                    <a:p>
                      <a:pPr algn="l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Ploidy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000000"/>
                          </a:solidFill>
                        </a:defRPr>
                      </a:pPr>
                      <a:r>
                        <a:rPr lang="en-US" dirty="0"/>
                        <a:t>-</a:t>
                      </a: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188640" y="179512"/>
            <a:ext cx="6480720" cy="87849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6" name="Picture 5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9160" y="8532440"/>
            <a:ext cx="1728192" cy="3999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12"/>
          <p:cNvSpPr txBox="1"/>
          <p:nvPr/>
        </p:nvSpPr>
        <p:spPr>
          <a:xfrm>
            <a:off x="116632" y="7875076"/>
            <a:ext cx="6624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--------------------------------------------------------------------</a:t>
            </a:r>
            <a:endParaRPr lang="ko-KR" altLang="en-US" dirty="0"/>
          </a:p>
        </p:txBody>
      </p:sp>
      <p:sp>
        <p:nvSpPr>
          <p:cNvPr id="14" name="직사각형 13"/>
          <p:cNvSpPr/>
          <p:nvPr/>
        </p:nvSpPr>
        <p:spPr>
          <a:xfrm>
            <a:off x="188640" y="251520"/>
            <a:ext cx="459734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b="1" dirty="0"/>
              <a:t>▣ </a:t>
            </a:r>
            <a:r>
              <a:rPr lang="en-US" altLang="ko-KR" sz="1200" b="1" dirty="0">
                <a:latin typeface="+mn-ea"/>
              </a:rPr>
              <a:t>Gene Content in the TruSight Oncology 500 panel Assay </a:t>
            </a:r>
            <a:endParaRPr lang="ko-KR" altLang="en-US" sz="1200" b="1" dirty="0">
              <a:latin typeface="+mn-ea"/>
            </a:endParaRPr>
          </a:p>
        </p:txBody>
      </p:sp>
      <p:sp>
        <p:nvSpPr>
          <p:cNvPr id="10" name="TextBox 31"/>
          <p:cNvSpPr txBox="1"/>
          <p:nvPr/>
        </p:nvSpPr>
        <p:spPr>
          <a:xfrm>
            <a:off x="188640" y="8656711"/>
            <a:ext cx="432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700" dirty="0"/>
              <a:t>검사기관 </a:t>
            </a:r>
            <a:r>
              <a:rPr lang="en-US" altLang="ko-KR" sz="700" dirty="0"/>
              <a:t>: </a:t>
            </a:r>
            <a:r>
              <a:rPr lang="ko-KR" altLang="en-US" sz="700" dirty="0" err="1"/>
              <a:t>세브란스병원</a:t>
            </a:r>
            <a:r>
              <a:rPr lang="ko-KR" altLang="en-US" sz="700" dirty="0"/>
              <a:t> 병리과 분자병리 검사실</a:t>
            </a:r>
            <a:endParaRPr lang="en-US" altLang="ko-KR" sz="700" dirty="0"/>
          </a:p>
          <a:p>
            <a:r>
              <a:rPr lang="ko-KR" altLang="en-US" sz="700" dirty="0"/>
              <a:t>서울시 서대문구 연세로 </a:t>
            </a:r>
            <a:r>
              <a:rPr lang="en-US" altLang="ko-KR" sz="700" dirty="0"/>
              <a:t>50-1 (</a:t>
            </a:r>
            <a:r>
              <a:rPr lang="ko-KR" altLang="en-US" sz="700" dirty="0"/>
              <a:t>신촌동 </a:t>
            </a:r>
            <a:r>
              <a:rPr lang="en-US" altLang="ko-KR" sz="700" dirty="0"/>
              <a:t>134) </a:t>
            </a:r>
            <a:r>
              <a:rPr lang="ko-KR" altLang="en-US" sz="700" dirty="0"/>
              <a:t>세브란스병원 병리과</a:t>
            </a:r>
            <a:r>
              <a:rPr lang="en-US" altLang="ko-KR" sz="700" dirty="0"/>
              <a:t> Tel: 02-2228-2625</a:t>
            </a:r>
            <a:endParaRPr lang="ko-KR" altLang="en-US" sz="700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672933"/>
              </p:ext>
            </p:extLst>
          </p:nvPr>
        </p:nvGraphicFramePr>
        <p:xfrm>
          <a:off x="261764" y="528528"/>
          <a:ext cx="6278096" cy="7499855"/>
        </p:xfrm>
        <a:graphic>
          <a:graphicData uri="http://schemas.openxmlformats.org/drawingml/2006/table">
            <a:tbl>
              <a:tblPr/>
              <a:tblGrid>
                <a:gridCol w="570736">
                  <a:extLst>
                    <a:ext uri="{9D8B030D-6E8A-4147-A177-3AD203B41FA5}">
                      <a16:colId xmlns:a16="http://schemas.microsoft.com/office/drawing/2014/main" val="7462408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3839514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0462231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34118930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3585166340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185590329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2890001543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00604124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984518606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4180727997"/>
                    </a:ext>
                  </a:extLst>
                </a:gridCol>
                <a:gridCol w="570736">
                  <a:extLst>
                    <a:ext uri="{9D8B030D-6E8A-4147-A177-3AD203B41FA5}">
                      <a16:colId xmlns:a16="http://schemas.microsoft.com/office/drawing/2014/main" val="1471167280"/>
                    </a:ext>
                  </a:extLst>
                </a:gridCol>
              </a:tblGrid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42897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FAM175A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361272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CXCR4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FAM46C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NPM1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TBX3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1437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CYLD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PPM1D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RUNX1T1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TCEB1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265511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ACVR1B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DAXX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IKBKE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RYBP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61352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C11orf30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DCUN1D1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IKZF1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NSD1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PPP2R2A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TCF7L2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843267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CALR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PPP6C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16069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DDX41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GNAQ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IL7R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PRDM1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511787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CASP8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DHX15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GNAS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PREX2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18663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ALOX12B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CBFB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DICER1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GPR124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INHBA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NUP93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PRKAR1A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SDHD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TET2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2174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CBL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FANCL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MDM4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NUTM1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PRKCI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TFE3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992045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ANKRD26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DNAJB1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INPP4B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MED12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PRKDC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SETD2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TFRC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94346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GRIN2A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MEF2B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PRSS8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SF3B1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1644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FBXW7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GRM3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PAK7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TGFBR2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57640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CCNE1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DNMT3B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GSK3B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PALB2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SH2D1A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TMEM127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197929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ARFRP1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DOT1L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MGA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PTPN11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SHQ1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471757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CD276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E2F3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MITF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PARP1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SLIT2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TNFAIP3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44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EED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FGF19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H3F3C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SLX4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TNFRSF14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368282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EGFL7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HGF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PTPRT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3912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ARID5B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CD79B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FGF23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QKI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TOP2A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9911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CDC73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EIF1AX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HIST1H2BD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MPL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RAB35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TP53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557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ASXL2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KAT6A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MRE11A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PBRM1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TP63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024985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EIF4E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RAD21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91209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KDM5C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PDCD1LG2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SMARCD1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TRAF7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4315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ATRX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EP300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KDM6A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695283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EPCAM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HIST1H3E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095475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AURKB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MST1R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SMO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TSHR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91583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PDPK1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RAD51D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SNCAIP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U2AF1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11977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AXIN2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EPHA7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MUTYH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PGR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SOCS1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VEGFA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91587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EPHB1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HIST1H3I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PHF6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RAD54L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VHL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72033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B2M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CDKN2C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HIST1H3J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KLF4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PHOX2B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VTCN1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237506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CEBPA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FH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KLHL6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RANBP2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WISP3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39714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BARD1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CENPA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PIK3C2G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SOX9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056521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BBC3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HIST2H3D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MYD88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RASA1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XIAP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06340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CHD4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HIST3H3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KMT2D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MYOD1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SPOP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XPO1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455456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NAB2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RBM10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XRCC2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168410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CHEK2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LAMP1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NBN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PIK3CD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RECQL4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YAP1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437119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CIC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ERCC5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HLA-C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SRSF2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YES1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544928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CREBBP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HNF1A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LATS2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NCOR1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105751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CRKL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ERRFI1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HNRNPK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LMO1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NEGR1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RFWD2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ZBTB7A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9496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CRLF2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FOXP1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HOXB13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LRP1B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RHEB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ZFHX3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783446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BCORL1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FRS2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HRAS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PIM1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RHOA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ZNF217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169207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CSF3R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FUBP1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HSD3B1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LZTR1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NFE2L2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PLCG2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RICTOR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ZNF703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642522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BIRC3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CSNK1A1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FYN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HSP90AA1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MAGI2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NFKBIA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RIT1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ZRSR2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87136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BLM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CTCF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GABRA6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ICOSLG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NKX2-1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PMAIP1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RNF43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STK11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3755790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BMPR1A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CTLA4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ETV6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NKX3-1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STK40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8074021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SUFU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985186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CTNNB1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EZH2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IDH2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MAP2K4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PNRC1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SUZ12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8028094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CUL3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FAM123B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GATA4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IFNGR1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MAP3K1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POLD1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6811827"/>
                  </a:ext>
                </a:extLst>
              </a:tr>
              <a:tr h="136361">
                <a:tc gridSpan="11"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RNA Content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1F2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8429128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ABL1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BCL2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CSF1R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EWSR1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FLI1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KIF5B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MSH2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NRG1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PAX7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RAF1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 w="25400" cap="flat" cmpd="dbl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1490837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AKT3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BRAF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EGFR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KIT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MYC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029489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ALK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EML4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MET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PDGFRB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ROS1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8615055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BRCA2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ERBB2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JAK2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NTRK3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PIK3CA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RPS6KB1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9786802"/>
                  </a:ext>
                </a:extLst>
              </a:tr>
              <a:tr h="136361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AXL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CDK4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ETV5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FGFR4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KDR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MLLT3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NOTCH3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PAX3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PPARG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600" b="1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TMPRSS2</a:t>
                      </a:r>
                    </a:p>
                  </a:txBody>
                  <a:tcPr marL="5698" marR="5698" marT="5698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809434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90800" y="8100000"/>
            <a:ext cx="920573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Tested by</a:t>
            </a:r>
            <a:r>
              <a:rPr b="0" dirty="0"/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0400" y="8100000"/>
            <a:ext cx="1114408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Analyzed by</a:t>
            </a:r>
            <a:r>
              <a:rPr b="0" dirty="0"/>
              <a:t>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800" y="8380800"/>
            <a:ext cx="949299" cy="276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/>
            </a:pPr>
            <a:r>
              <a:rPr dirty="0"/>
              <a:t>Signed by</a:t>
            </a:r>
            <a:r>
              <a:rPr b="0" dirty="0"/>
              <a:t>: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892213"/>
              </p:ext>
            </p:extLst>
          </p:nvPr>
        </p:nvGraphicFramePr>
        <p:xfrm>
          <a:off x="4510800" y="8208000"/>
          <a:ext cx="2062800" cy="2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r>
                        <a:t>분자 접수 번호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0000"/>
                          </a:solidFill>
                        </a:defRPr>
                      </a:pPr>
                      <a:endParaRPr dirty="0"/>
                    </a:p>
                  </a:txBody>
                  <a:tcPr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12924</TotalTime>
  <Words>1393</Words>
  <Application>Microsoft Macintosh PowerPoint</Application>
  <PresentationFormat>화면 슬라이드 쇼(4:3)</PresentationFormat>
  <Paragraphs>753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severance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yudp3005</dc:creator>
  <cp:lastModifiedBy>Siwon Lee</cp:lastModifiedBy>
  <cp:revision>500</cp:revision>
  <dcterms:created xsi:type="dcterms:W3CDTF">2012-09-25T01:07:48Z</dcterms:created>
  <dcterms:modified xsi:type="dcterms:W3CDTF">2026-02-24T07:21:04Z</dcterms:modified>
</cp:coreProperties>
</file>