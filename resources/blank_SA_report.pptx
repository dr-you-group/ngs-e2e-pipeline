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63" r:id="rId4"/>
    <p:sldId id="261" r:id="rId5"/>
    <p:sldId id="262" r:id="rId6"/>
    <p:sldId id="265" r:id="rId7"/>
  </p:sldIdLst>
  <p:sldSz cx="6858000" cy="9144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8" autoAdjust="0"/>
    <p:restoredTop sz="94676" autoAdjust="0"/>
  </p:normalViewPr>
  <p:slideViewPr>
    <p:cSldViewPr>
      <p:cViewPr varScale="1">
        <p:scale>
          <a:sx n="114" d="100"/>
          <a:sy n="114" d="100"/>
        </p:scale>
        <p:origin x="512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F433D-ACB8-475A-9DBB-3D1EBDB4B826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06600" y="746125"/>
            <a:ext cx="27940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3651C-FA4E-4B4E-85CE-214D5592BC4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3651C-FA4E-4B4E-85CE-214D5592BC4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92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92CD-CDBB-40CF-A1EE-0B1B8B43A805}" type="datetimeFigureOut">
              <a:rPr lang="ko-KR" altLang="en-US" smtClean="0"/>
              <a:pPr/>
              <a:t>2026. 2. 3.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827584"/>
            <a:ext cx="10972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 err="1"/>
              <a:t>검체</a:t>
            </a:r>
            <a:r>
              <a:rPr lang="ko-KR" altLang="en-US" sz="1200" b="1" dirty="0"/>
              <a:t> 정보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0648" y="323528"/>
            <a:ext cx="62646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+mn-ea"/>
              </a:rPr>
              <a:t>NGS Panel Level II Analysis Report</a:t>
            </a:r>
            <a:endParaRPr lang="ko-KR" altLang="en-US" sz="2200" b="1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88640" y="2339752"/>
            <a:ext cx="1103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검사결과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21161" y="2627784"/>
            <a:ext cx="26132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en-US" altLang="ko-KR" sz="1200" b="1" dirty="0">
                <a:solidFill>
                  <a:srgbClr val="FF0000"/>
                </a:solidFill>
              </a:rPr>
              <a:t>Variants of clinical significance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24" name="Picture 5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3176" y="8503399"/>
            <a:ext cx="1512168" cy="40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Box 32"/>
          <p:cNvSpPr txBox="1"/>
          <p:nvPr/>
        </p:nvSpPr>
        <p:spPr>
          <a:xfrm>
            <a:off x="116632" y="823511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648" y="2926849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13" name="TextBox 31"/>
          <p:cNvSpPr txBox="1"/>
          <p:nvPr/>
        </p:nvSpPr>
        <p:spPr>
          <a:xfrm>
            <a:off x="188640" y="8532440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검사기관 </a:t>
            </a:r>
            <a:r>
              <a:rPr lang="en-US" altLang="ko-KR" sz="800" dirty="0"/>
              <a:t>: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 분자병리 검사실</a:t>
            </a:r>
            <a:endParaRPr lang="en-US" altLang="ko-KR" sz="800" dirty="0"/>
          </a:p>
          <a:p>
            <a:r>
              <a:rPr lang="ko-KR" altLang="en-US" sz="800" dirty="0"/>
              <a:t>서울시 서대문구 연세로 </a:t>
            </a:r>
            <a:r>
              <a:rPr lang="en-US" altLang="ko-KR" sz="800" dirty="0"/>
              <a:t>50-1 (</a:t>
            </a:r>
            <a:r>
              <a:rPr lang="ko-KR" altLang="en-US" sz="800" dirty="0"/>
              <a:t>신촌동 </a:t>
            </a:r>
            <a:r>
              <a:rPr lang="en-US" altLang="ko-KR" sz="800" dirty="0"/>
              <a:t>134)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</a:t>
            </a:r>
            <a:endParaRPr lang="en-US" altLang="ko-KR" sz="800" dirty="0"/>
          </a:p>
          <a:p>
            <a:r>
              <a:rPr lang="en-US" altLang="ko-KR" sz="800" dirty="0"/>
              <a:t>Tel: 02-2228-2625</a:t>
            </a:r>
            <a:endParaRPr lang="ko-KR" altLang="en-US" sz="800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79162"/>
              </p:ext>
            </p:extLst>
          </p:nvPr>
        </p:nvGraphicFramePr>
        <p:xfrm>
          <a:off x="332656" y="3232744"/>
          <a:ext cx="6192689" cy="547200"/>
        </p:xfrm>
        <a:graphic>
          <a:graphicData uri="http://schemas.openxmlformats.org/drawingml/2006/table">
            <a:tbl>
              <a:tblPr/>
              <a:tblGrid>
                <a:gridCol w="58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260648" y="4150985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1" name="직사각형 20"/>
          <p:cNvSpPr/>
          <p:nvPr/>
        </p:nvSpPr>
        <p:spPr>
          <a:xfrm>
            <a:off x="260648" y="5207102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5" name="직사각형 24"/>
          <p:cNvSpPr/>
          <p:nvPr/>
        </p:nvSpPr>
        <p:spPr>
          <a:xfrm>
            <a:off x="260648" y="6263219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806607"/>
              </p:ext>
            </p:extLst>
          </p:nvPr>
        </p:nvGraphicFramePr>
        <p:xfrm>
          <a:off x="332656" y="5511752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255715"/>
              </p:ext>
            </p:extLst>
          </p:nvPr>
        </p:nvGraphicFramePr>
        <p:xfrm>
          <a:off x="332656" y="4453447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260648" y="7319337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Other Biomarkers</a:t>
            </a:r>
            <a:endParaRPr lang="ko-KR" altLang="en-US" sz="1200" dirty="0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59408"/>
              </p:ext>
            </p:extLst>
          </p:nvPr>
        </p:nvGraphicFramePr>
        <p:xfrm>
          <a:off x="332657" y="6568183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14572"/>
              </p:ext>
            </p:extLst>
          </p:nvPr>
        </p:nvGraphicFramePr>
        <p:xfrm>
          <a:off x="259200" y="1116000"/>
          <a:ext cx="6336000" cy="69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9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 정보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성별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나이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Unit NO.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환자명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채취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원발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진단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2445"/>
              </p:ext>
            </p:extLst>
          </p:nvPr>
        </p:nvGraphicFramePr>
        <p:xfrm>
          <a:off x="259200" y="1818000"/>
          <a:ext cx="6336000" cy="5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의뢰의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의뢰의 소속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 유형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검체의 적절성여부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검체접수일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결과보고일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647665"/>
              </p:ext>
            </p:extLst>
          </p:nvPr>
        </p:nvGraphicFramePr>
        <p:xfrm>
          <a:off x="331200" y="7668000"/>
          <a:ext cx="6192000" cy="5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Estimated Tumor Mutation Burden (TMB)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Microsatellite Instability (MSI) (% Unstable MSI Sites)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Megabase</a:t>
                      </a:r>
                      <a:endParaRPr dirty="0"/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%</a:t>
                      </a:r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45218"/>
              </p:ext>
            </p:extLst>
          </p:nvPr>
        </p:nvGraphicFramePr>
        <p:xfrm>
          <a:off x="280355" y="784632"/>
          <a:ext cx="6316998" cy="547200"/>
        </p:xfrm>
        <a:graphic>
          <a:graphicData uri="http://schemas.openxmlformats.org/drawingml/2006/table">
            <a:tbl>
              <a:tblPr/>
              <a:tblGrid>
                <a:gridCol w="601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221161" y="179512"/>
            <a:ext cx="27927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2. Variants of unknown significance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60648" y="478577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29" name="직사각형 28"/>
          <p:cNvSpPr/>
          <p:nvPr/>
        </p:nvSpPr>
        <p:spPr>
          <a:xfrm>
            <a:off x="260648" y="4588331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0" name="직사각형 29"/>
          <p:cNvSpPr/>
          <p:nvPr/>
        </p:nvSpPr>
        <p:spPr>
          <a:xfrm>
            <a:off x="260648" y="5533859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1" name="직사각형 30"/>
          <p:cNvSpPr/>
          <p:nvPr/>
        </p:nvSpPr>
        <p:spPr>
          <a:xfrm>
            <a:off x="268532" y="7424914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26063"/>
              </p:ext>
            </p:extLst>
          </p:nvPr>
        </p:nvGraphicFramePr>
        <p:xfrm>
          <a:off x="332656" y="5834953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97282"/>
              </p:ext>
            </p:extLst>
          </p:nvPr>
        </p:nvGraphicFramePr>
        <p:xfrm>
          <a:off x="332656" y="4889426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3642"/>
              </p:ext>
            </p:extLst>
          </p:nvPr>
        </p:nvGraphicFramePr>
        <p:xfrm>
          <a:off x="332657" y="7726008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260648" y="8471465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3. Failed gene: </a:t>
            </a:r>
            <a:r>
              <a:rPr lang="en-US" altLang="ko-KR" sz="1200" dirty="0"/>
              <a:t>None</a:t>
            </a:r>
            <a:endParaRPr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260648" y="6479387"/>
            <a:ext cx="28471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Large rearrangements in BRCA1/2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9699"/>
              </p:ext>
            </p:extLst>
          </p:nvPr>
        </p:nvGraphicFramePr>
        <p:xfrm>
          <a:off x="332656" y="6780480"/>
          <a:ext cx="6192688" cy="504418"/>
        </p:xfrm>
        <a:graphic>
          <a:graphicData uri="http://schemas.openxmlformats.org/drawingml/2006/table">
            <a:tbl>
              <a:tblPr/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88187205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AFFECTED EXON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09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280354" y="323528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</a:t>
            </a:r>
            <a:r>
              <a:rPr lang="ko-KR" altLang="fr-FR" sz="1200" b="1" dirty="0"/>
              <a:t> </a:t>
            </a:r>
            <a:r>
              <a:rPr lang="fr-FR" altLang="ko-KR" sz="1200" b="1" dirty="0"/>
              <a:t>Comment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223365" y="8456657"/>
            <a:ext cx="644599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 </a:t>
            </a:r>
            <a:r>
              <a:rPr lang="ko-KR" altLang="en-US" sz="900" dirty="0">
                <a:latin typeface="+mj-lt"/>
                <a:ea typeface="굴림" pitchFamily="50" charset="-127"/>
              </a:rPr>
              <a:t>본 검사의 </a:t>
            </a:r>
            <a:r>
              <a:rPr lang="en-US" altLang="ko-KR" sz="900" dirty="0">
                <a:latin typeface="+mj-lt"/>
                <a:ea typeface="굴림" pitchFamily="50" charset="-127"/>
              </a:rPr>
              <a:t>raw data (BAM, FASTQ, VCF)</a:t>
            </a:r>
            <a:r>
              <a:rPr lang="ko-KR" altLang="en-US" sz="900" dirty="0">
                <a:latin typeface="+mj-lt"/>
                <a:ea typeface="굴림" pitchFamily="50" charset="-127"/>
              </a:rPr>
              <a:t> 파일은 분자 병리 검사실 내 병리과 서버 컴퓨터에서 보관</a:t>
            </a:r>
            <a:r>
              <a:rPr lang="en-US" altLang="ko-KR" sz="900" dirty="0">
                <a:latin typeface="+mj-lt"/>
                <a:ea typeface="굴림" pitchFamily="50" charset="-127"/>
              </a:rPr>
              <a:t>, </a:t>
            </a:r>
            <a:r>
              <a:rPr lang="ko-KR" altLang="en-US" sz="900" dirty="0">
                <a:latin typeface="+mj-lt"/>
                <a:ea typeface="굴림" pitchFamily="50" charset="-127"/>
              </a:rPr>
              <a:t>관리되고 있습니다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  <a:endParaRPr lang="en-US" altLang="ko-KR" sz="900" dirty="0">
              <a:latin typeface="+mj-lt"/>
              <a:ea typeface="굴림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</a:t>
            </a:r>
            <a:r>
              <a:rPr lang="ko-KR" altLang="en-US" sz="900" dirty="0">
                <a:latin typeface="+mj-lt"/>
                <a:ea typeface="굴림" pitchFamily="50" charset="-127"/>
              </a:rPr>
              <a:t> 본 검사의 결과는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검체에</a:t>
            </a:r>
            <a:r>
              <a:rPr lang="ko-KR" altLang="en-US" sz="900" dirty="0">
                <a:latin typeface="+mj-lt"/>
                <a:ea typeface="굴림" pitchFamily="50" charset="-127"/>
              </a:rPr>
              <a:t> 포함된 정상세포와 암세포의 비율에 따라 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위음성의</a:t>
            </a:r>
            <a:r>
              <a:rPr lang="ko-KR" altLang="en-US" sz="900" dirty="0">
                <a:latin typeface="+mj-lt"/>
                <a:ea typeface="굴림" pitchFamily="50" charset="-127"/>
              </a:rPr>
              <a:t> 결과를 배제 할 수 없습니다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354" y="755576"/>
            <a:ext cx="631699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*</a:t>
            </a:r>
            <a:r>
              <a:rPr lang="ko-KR" altLang="en-US" sz="800" dirty="0"/>
              <a:t>본 기관의 유전자 정보 검색 및 해석은 </a:t>
            </a:r>
            <a:r>
              <a:rPr lang="en-US" altLang="ko-KR" sz="800" dirty="0" err="1"/>
              <a:t>dbSNP</a:t>
            </a:r>
            <a:r>
              <a:rPr lang="en-US" altLang="ko-KR" sz="800" dirty="0"/>
              <a:t>, COSMIC, </a:t>
            </a:r>
            <a:r>
              <a:rPr lang="en-US" altLang="ko-KR" sz="800" dirty="0" err="1"/>
              <a:t>ClinVar</a:t>
            </a:r>
            <a:r>
              <a:rPr lang="en-US" altLang="ko-KR" sz="800" dirty="0"/>
              <a:t>, c-</a:t>
            </a:r>
            <a:r>
              <a:rPr lang="en-US" altLang="ko-KR" sz="800" dirty="0" err="1"/>
              <a:t>bioportal</a:t>
            </a:r>
            <a:r>
              <a:rPr lang="ko-KR" altLang="en-US" sz="800" dirty="0"/>
              <a:t>  등의 유전자 정보검색 사이트를 참고로 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</a:t>
            </a:r>
            <a:r>
              <a:rPr lang="en-US" altLang="ko-KR" sz="800" dirty="0"/>
              <a:t>, </a:t>
            </a:r>
            <a:r>
              <a:rPr lang="ko-KR" altLang="en-US" sz="800" dirty="0"/>
              <a:t>발견된 유전자 변이의 임상적 의미에 대하여</a:t>
            </a:r>
            <a:r>
              <a:rPr lang="en-US" altLang="ko-KR" sz="800" dirty="0"/>
              <a:t>,</a:t>
            </a:r>
            <a:r>
              <a:rPr lang="ko-KR" altLang="en-US" sz="800" dirty="0"/>
              <a:t> 아래 참고 문헌에 기반한 </a:t>
            </a:r>
            <a:r>
              <a:rPr lang="en-US" altLang="ko-KR" sz="800" dirty="0"/>
              <a:t>4</a:t>
            </a:r>
            <a:r>
              <a:rPr lang="ko-KR" altLang="en-US" sz="800" dirty="0"/>
              <a:t>단계 시스템 </a:t>
            </a:r>
            <a:r>
              <a:rPr lang="en-US" altLang="ko-KR" sz="800" dirty="0"/>
              <a:t>(Tier I: Strong clinical significance, Tier II: Potential  Clinical significance, Tier III: Unknown Clinical significance, Tier IV: Benign or Likely Benign) </a:t>
            </a:r>
            <a:r>
              <a:rPr lang="ko-KR" altLang="en-US" sz="800" dirty="0"/>
              <a:t>을 적용하여 보고하고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 </a:t>
            </a:r>
            <a:r>
              <a:rPr lang="en-US" altLang="ko-KR" sz="800" dirty="0"/>
              <a:t>normal cell sequencing</a:t>
            </a:r>
            <a:r>
              <a:rPr lang="ko-KR" altLang="en-US" sz="800" dirty="0"/>
              <a:t>이 이루어지지 않아 일부 변이의 경우 </a:t>
            </a:r>
            <a:r>
              <a:rPr lang="en-US" altLang="ko-KR" sz="800" dirty="0"/>
              <a:t>germline polymorphism</a:t>
            </a:r>
            <a:r>
              <a:rPr lang="ko-KR" altLang="en-US" sz="800" dirty="0"/>
              <a:t>의 가능성을 배제할 수 없습니다</a:t>
            </a:r>
            <a:r>
              <a:rPr lang="en-US" altLang="ko-KR" sz="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Standards and Guidelines for the Interpretation and Reporting of Sequence Variants in Cancer. A Joint Consensus Recommendation of the Association for Molecular Pathology, American Society of Clinical Oncology and College of American Pathologists. </a:t>
            </a:r>
            <a:r>
              <a:rPr lang="it-IT" altLang="ko-KR" sz="800" dirty="0"/>
              <a:t>J Mol Diagn. 2017; 19(1):4-23.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62869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188640" y="5076056"/>
            <a:ext cx="1324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Specification</a:t>
            </a:r>
            <a:endParaRPr lang="ko-KR" altLang="en-US" sz="1200" b="1" dirty="0"/>
          </a:p>
        </p:txBody>
      </p:sp>
      <p:sp>
        <p:nvSpPr>
          <p:cNvPr id="17" name="직사각형 16"/>
          <p:cNvSpPr/>
          <p:nvPr/>
        </p:nvSpPr>
        <p:spPr>
          <a:xfrm>
            <a:off x="188640" y="262553"/>
            <a:ext cx="10631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검사정보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19" name="직사각형 18"/>
          <p:cNvSpPr/>
          <p:nvPr/>
        </p:nvSpPr>
        <p:spPr>
          <a:xfrm>
            <a:off x="188640" y="4439017"/>
            <a:ext cx="1725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Analysis Program </a:t>
            </a:r>
            <a:endParaRPr lang="ko-KR" altLang="en-US" sz="1200" b="1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630705"/>
            <a:ext cx="13776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Filter history</a:t>
            </a:r>
            <a:r>
              <a:rPr lang="ko-KR" altLang="en-US" sz="1200" b="1" dirty="0"/>
              <a:t> 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332656" y="1857762"/>
            <a:ext cx="633670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Include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Exonic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,</a:t>
            </a:r>
            <a:r>
              <a:rPr kumimoji="1" lang="en-US" altLang="ko-KR" sz="1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Illumina Q.C Filter PASS</a:t>
            </a:r>
            <a:r>
              <a:rPr kumimoji="1" lang="en-US" altLang="ko-KR" sz="1000" dirty="0">
                <a:ea typeface="맑은 고딕" pitchFamily="50" charset="-127"/>
                <a:cs typeface="Arial" pitchFamily="34" charset="0"/>
              </a:rPr>
              <a:t>, Fold change &lt;0.5 or &gt;1.5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맑은 고딕" pitchFamily="50" charset="-127"/>
                <a:cs typeface="Arial" pitchFamily="34" charset="0"/>
              </a:rPr>
              <a:t>S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ynonymous, VAF &lt;3%, total depth &lt;100, refer depth=0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88640" y="3142873"/>
            <a:ext cx="6442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Q.C</a:t>
            </a:r>
            <a:endParaRPr lang="ko-KR" altLang="en-US" sz="1200" b="1" dirty="0"/>
          </a:p>
        </p:txBody>
      </p:sp>
      <p:sp>
        <p:nvSpPr>
          <p:cNvPr id="26" name="직사각형 25"/>
          <p:cNvSpPr/>
          <p:nvPr/>
        </p:nvSpPr>
        <p:spPr>
          <a:xfrm>
            <a:off x="188640" y="2494801"/>
            <a:ext cx="1742785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▣ DNA, RNA </a:t>
            </a:r>
            <a:r>
              <a:rPr lang="en-US" altLang="ko-KR" sz="700" b="1" dirty="0"/>
              <a:t>(</a:t>
            </a:r>
            <a:r>
              <a:rPr lang="en-US" altLang="ko-KR" sz="700" b="1" dirty="0" err="1"/>
              <a:t>Qubit</a:t>
            </a:r>
            <a:r>
              <a:rPr lang="en-US" altLang="ko-KR" sz="700" b="1" dirty="0"/>
              <a:t> </a:t>
            </a:r>
            <a:r>
              <a:rPr lang="ko-KR" altLang="en-US" sz="700" b="1" dirty="0"/>
              <a:t>농도</a:t>
            </a:r>
            <a:r>
              <a:rPr lang="en-US" altLang="ko-KR" sz="700" b="1" dirty="0"/>
              <a:t>)</a:t>
            </a:r>
            <a:endParaRPr lang="ko-KR" altLang="en-US" sz="7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69264"/>
              </p:ext>
            </p:extLst>
          </p:nvPr>
        </p:nvGraphicFramePr>
        <p:xfrm>
          <a:off x="685800" y="5364088"/>
          <a:ext cx="5551512" cy="3431588"/>
        </p:xfrm>
        <a:graphic>
          <a:graphicData uri="http://schemas.openxmlformats.org/drawingml/2006/table">
            <a:tbl>
              <a:tblPr/>
              <a:tblGrid>
                <a:gridCol w="1734848">
                  <a:extLst>
                    <a:ext uri="{9D8B030D-6E8A-4147-A177-3AD203B41FA5}">
                      <a16:colId xmlns:a16="http://schemas.microsoft.com/office/drawing/2014/main" val="2732149327"/>
                    </a:ext>
                  </a:extLst>
                </a:gridCol>
                <a:gridCol w="3816664">
                  <a:extLst>
                    <a:ext uri="{9D8B030D-6E8A-4147-A177-3AD203B41FA5}">
                      <a16:colId xmlns:a16="http://schemas.microsoft.com/office/drawing/2014/main" val="1281755945"/>
                    </a:ext>
                  </a:extLst>
                </a:gridCol>
              </a:tblGrid>
              <a:tr h="2888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TruSight Oncology 500 / TruSight</a:t>
                      </a:r>
                      <a:r>
                        <a:rPr 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RNA Fusion Panel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44152"/>
                  </a:ext>
                </a:extLst>
              </a:tr>
              <a:tr h="201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NextSeq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550Dx or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NovaSeq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6000Dx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(research mode)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60796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Panel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1.94 Mb DNA, 358 kb RNA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1.44Mb RNA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87711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87205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RNA‡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2547"/>
                  </a:ext>
                </a:extLst>
              </a:tr>
              <a:tr h="43770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FFPE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recommendation of 0.65㎣ from FFPE tissue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samples (5 slides cut at 10 microns thick)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8587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 assay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 days from nucleic acid to variant report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60087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Sequene run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or 19 hours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00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Sequene run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X 101 cycles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039286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or 48 samples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36599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throughput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or 16 or 32 samples per run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56572"/>
                  </a:ext>
                </a:extLst>
              </a:tr>
              <a:tr h="57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Limit of detection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 VAF for small variants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copies per ng RNA input for fusions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1.5x fold-change for CNVs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031292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sensitivity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&gt;96% (for all variant types at 5% VAF)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25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specificity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&gt;99.99%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0091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32656" y="1248615"/>
            <a:ext cx="619268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1000" b="1" dirty="0">
                <a:latin typeface="+mj-lt"/>
              </a:rPr>
              <a:t>Reference genome : </a:t>
            </a:r>
            <a:r>
              <a:rPr lang="en-US" altLang="ko-KR" sz="1000" dirty="0" err="1">
                <a:latin typeface="+mj-lt"/>
              </a:rPr>
              <a:t>Homo_sapiens</a:t>
            </a:r>
            <a:r>
              <a:rPr lang="en-US" altLang="ko-KR" sz="1000" dirty="0">
                <a:latin typeface="+mj-lt"/>
              </a:rPr>
              <a:t>/ UCSC/ hg19 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2656" y="523900"/>
            <a:ext cx="619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/>
            <a:r>
              <a:rPr lang="ko-KR" altLang="en-US" sz="1000" b="1" dirty="0">
                <a:latin typeface="+mj-lt"/>
              </a:rPr>
              <a:t>검사시약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 err="1">
                <a:latin typeface="+mj-lt"/>
              </a:rPr>
              <a:t>AllPrep</a:t>
            </a:r>
            <a:r>
              <a:rPr lang="en-US" altLang="ko-KR" sz="1000" dirty="0">
                <a:latin typeface="+mj-lt"/>
              </a:rPr>
              <a:t> DNA/RNA FFPE Kit (50) [</a:t>
            </a:r>
            <a:r>
              <a:rPr lang="en-US" altLang="ko-KR" sz="1000" dirty="0" err="1">
                <a:latin typeface="+mj-lt"/>
              </a:rPr>
              <a:t>Qiagen</a:t>
            </a:r>
            <a:r>
              <a:rPr lang="en-US" altLang="ko-KR" sz="1000" dirty="0">
                <a:latin typeface="+mj-lt"/>
              </a:rPr>
              <a:t>], TruSight™ Oncology 500 kit [Illumina]</a:t>
            </a:r>
          </a:p>
          <a:p>
            <a:pPr marL="228600" indent="-228600"/>
            <a:r>
              <a:rPr lang="en-US" altLang="ko-KR" sz="1000" dirty="0">
                <a:latin typeface="+mj-lt"/>
              </a:rPr>
              <a:t>                                                                   </a:t>
            </a:r>
            <a:r>
              <a:rPr lang="en-US" altLang="ko-KR" sz="1000" dirty="0">
                <a:solidFill>
                  <a:schemeClr val="bg1"/>
                </a:solidFill>
                <a:latin typeface="+mj-lt"/>
              </a:rPr>
              <a:t>,,</a:t>
            </a:r>
            <a:r>
              <a:rPr lang="en-US" altLang="ko-KR" sz="1000" dirty="0"/>
              <a:t>TruSight™ RNA Fusion Panel [Illumina]</a:t>
            </a:r>
            <a:endParaRPr lang="en-US" altLang="ko-KR" sz="1000" dirty="0">
              <a:latin typeface="+mj-lt"/>
            </a:endParaRPr>
          </a:p>
          <a:p>
            <a:pPr marL="228600" indent="-228600"/>
            <a:r>
              <a:rPr lang="ko-KR" altLang="en-US" sz="1000" b="1" dirty="0">
                <a:latin typeface="+mj-lt"/>
              </a:rPr>
              <a:t>검사방법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/>
              <a:t>NGS targeted DNA/RNA sequencing (Library : Hybrid capture)</a:t>
            </a:r>
            <a:endParaRPr lang="en-US" altLang="ko-KR" sz="10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0000" y="2844000"/>
            <a:ext cx="31630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rPr dirty="0"/>
              <a:t>DNA (ng/</a:t>
            </a:r>
            <a:r>
              <a:rPr dirty="0" err="1"/>
              <a:t>ul</a:t>
            </a:r>
            <a:r>
              <a:rPr dirty="0"/>
              <a:t>) : </a:t>
            </a:r>
            <a:r>
              <a:rPr lang="en-US" dirty="0"/>
              <a:t>    </a:t>
            </a:r>
            <a:r>
              <a:rPr dirty="0"/>
              <a:t>                           RNA (ng/</a:t>
            </a:r>
            <a:r>
              <a:rPr dirty="0" err="1"/>
              <a:t>ul</a:t>
            </a:r>
            <a:r>
              <a:rPr dirty="0"/>
              <a:t>) 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582698"/>
              </p:ext>
            </p:extLst>
          </p:nvPr>
        </p:nvGraphicFramePr>
        <p:xfrm>
          <a:off x="406799" y="3445200"/>
          <a:ext cx="33408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7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Metric (UOM)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LSL Guideline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PCT_PF_READS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PCT_Q30_R1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PCT_Q30_R2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03200" y="4752000"/>
            <a:ext cx="4737600" cy="2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3200" y="4752000"/>
            <a:ext cx="4737600" cy="2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DRAGEN TSO500 ( Workflow Version : 2.5.2 )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200" y="1072800"/>
            <a:ext cx="7264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rPr dirty="0" err="1"/>
              <a:t>검사기기</a:t>
            </a:r>
            <a:r>
              <a:rPr b="0" dirty="0"/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3675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NGS Sarcoma Panel Assay [DNA]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526780"/>
              </p:ext>
            </p:extLst>
          </p:nvPr>
        </p:nvGraphicFramePr>
        <p:xfrm>
          <a:off x="261764" y="528528"/>
          <a:ext cx="6278096" cy="7499842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53058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FAM175A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CXCR4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FAM46C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CYLD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PPM1D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TCEB1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DAXX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IKBKE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RYBP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C11orf30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DCUN1D1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TCF7L2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DDX41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GNAQ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IL7R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DHX15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ALOX12B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DICER1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INHBA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PRKDC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MEF2B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PRSS8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FBXW7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GRM3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CCNE1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GSK3B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TMEM127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ARFRP1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DOT1L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PTPN11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SHQ1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MITF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TNFAIP3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SLX4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EGFL7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HGF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QKI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CDC73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EIF1AX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HIST1H2BD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RAB35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MRE11A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PBRM1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TP63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RAD21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PDCD1LG2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EPCAM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SMO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TSHR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SNCAIP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PGR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SOCS1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VEGFA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RAD54L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VHL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HIST1H3J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PHOX2B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VTCN1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KLHL6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WISP3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MYD88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RASA1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HIST3H3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SPOP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XPO1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LAMP1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RECQL4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YES1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CRKL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ERRFI1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HNRNPK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RFWD2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ZBTB7A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HOXB13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LRP1B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RHEB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ZFHX3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CSF3R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HSD3B1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LZTR1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NFE2L2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RICTOR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ZNF703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CSNK1A1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MAGI2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NFKBIA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ZRSR2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GABRA6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ICOSLG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PMAIP1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RNF43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BMPR1A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NKX3-1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STK40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SUFU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PNRC1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CUL3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FAM123B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IFNGR1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Picture 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9160" y="8532440"/>
            <a:ext cx="1728192" cy="39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16632" y="787507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353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NGS Sarcoma Panel Assay [RNA]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0" name="TextBox 31"/>
          <p:cNvSpPr txBox="1"/>
          <p:nvPr/>
        </p:nvSpPr>
        <p:spPr>
          <a:xfrm>
            <a:off x="188640" y="8656711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검사기관 </a:t>
            </a:r>
            <a:r>
              <a:rPr lang="en-US" altLang="ko-KR" sz="700" dirty="0"/>
              <a:t>: </a:t>
            </a:r>
            <a:r>
              <a:rPr lang="ko-KR" altLang="en-US" sz="700" dirty="0" err="1"/>
              <a:t>세브란스병원</a:t>
            </a:r>
            <a:r>
              <a:rPr lang="ko-KR" altLang="en-US" sz="700" dirty="0"/>
              <a:t> 병리과 분자병리 검사실</a:t>
            </a:r>
            <a:endParaRPr lang="en-US" altLang="ko-KR" sz="700" dirty="0"/>
          </a:p>
          <a:p>
            <a:r>
              <a:rPr lang="ko-KR" altLang="en-US" sz="700" dirty="0"/>
              <a:t>서울시 서대문구 연세로 </a:t>
            </a:r>
            <a:r>
              <a:rPr lang="en-US" altLang="ko-KR" sz="700" dirty="0"/>
              <a:t>50-1 (</a:t>
            </a:r>
            <a:r>
              <a:rPr lang="ko-KR" altLang="en-US" sz="700" dirty="0"/>
              <a:t>신촌동 </a:t>
            </a:r>
            <a:r>
              <a:rPr lang="en-US" altLang="ko-KR" sz="700" dirty="0"/>
              <a:t>134) </a:t>
            </a:r>
            <a:r>
              <a:rPr lang="ko-KR" altLang="en-US" sz="700" dirty="0"/>
              <a:t>세브란스병원 병리과</a:t>
            </a:r>
            <a:r>
              <a:rPr lang="en-US" altLang="ko-KR" sz="700" dirty="0"/>
              <a:t> Tel: 02-2228-2625</a:t>
            </a:r>
            <a:endParaRPr lang="ko-KR" altLang="en-US" sz="7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996207"/>
              </p:ext>
            </p:extLst>
          </p:nvPr>
        </p:nvGraphicFramePr>
        <p:xfrm>
          <a:off x="261764" y="528528"/>
          <a:ext cx="6278096" cy="7499856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47056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ABI1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COG5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GTF2I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LINC00598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PHF23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SERPINE1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ZMYND11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BRWD3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H2AFX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LINC00982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PICALM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SERPINF1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ZNF207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BTBD18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LMBRD1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ZNF384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ACACA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COL6A3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ERLIN2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HEY1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NDE1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PLAG1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TENM1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ZNF444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COX6C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HHEX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SFPQ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ZNF521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ACER1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C11orf95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CPSF6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LNP1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NFATC2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POM121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SH3D19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ZNF585B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ACKR3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C2CD2L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CRADD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HIPK1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NFIB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POU2AF1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SH3GL1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ZNF687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ACSL6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C3orf27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HIST1H4I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LPXN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NGF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POU5F1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SIK3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TFPT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CAMTA1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CREB3L1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LRMP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NGFR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SLC34A2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CAPRIN1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CREB3L2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HMGA2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LRRC37B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SLC45A3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NIPBL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PPARGC1A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SLCO1B3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THADA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CASC5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PPFIBP1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THRAP3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CRTC1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FAM19A2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MACROD1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NONO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TIRAP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AHI1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CBFA2T3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FCGR2B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AHRR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FCRL4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HOXA9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SNHG5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TLX3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CTDSP2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HOXC11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NR4A3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PRKACA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SORBS2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CCAR2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FEV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HOXC13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MAML2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NR6A1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CCDC28A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HOXD11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PRKG2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ARHGAP20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DAB2IP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HOXD13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MBNL1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NT5C2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PRRX2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ARHGAP26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CCDC88C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DACH1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FGFR1OP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MBTD1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NTF3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SPTBN1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ARNT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CCNB1IP1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DACH2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FGFR1OP2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PSMD2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SQSTM1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TPM3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ASPSCR1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DDIT3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MEAF6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TPM4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ASTN2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MECOM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PVT1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TRHDE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DDX20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IL21R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MGEA5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RABEP1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TRIM24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ATIC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FHIT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SS18L1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TRIP11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ATP1B4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DMRT1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FIP1L1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INPP5D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NUP107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TRPS1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IQCG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NUP214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USP16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BACH2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CDK5RAP2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DPM1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FLNA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NUP98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RAP1GDS1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USP42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BAG4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DUSP22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BAIAP2L1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DUX4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FLT3LG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ST6GAL1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VGLL3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BAZ2A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CDX2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NUTM2B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WASF2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BCAS3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EEFSEC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FOSB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RCOR1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WDR18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BCAS4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FOSL1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OLIG2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RCSD1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WDR70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JAZF1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OLR1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SUGP2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WHSC1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KANK1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MNX1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OMD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RHOH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WHSC1L1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BCL11B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CEP170B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MSI2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P2RY8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RNF213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WSB1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CEP85L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PAPPA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FRYL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PATZ1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RPL22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WWTR1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KIAA1524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CHMP2B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ELK4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GAS5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RREB1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CHST11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GAS7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RRM1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YTHDF2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KPNB1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YWHAE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CIITA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KSR1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MYH11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TAOK1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ZBTB16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BDNF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MYH9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ZC3H7A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CLTC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MYO18A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PDE4DIP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SARNP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TCF12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ZC3H7B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CLTCL1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EP400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MYO1F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SEC31A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ZFP64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CMKLR1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LGR5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TCL1A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ZFPM2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CNBP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EPOR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GPR34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LHFP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TCTA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ZFYVE19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CNOT2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GRHPR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LHX2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NBEAP1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ZMIZ1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602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CNTRL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LHX4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ZMYM2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9083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0800" y="8100000"/>
            <a:ext cx="9205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Tested by</a:t>
            </a:r>
            <a:r>
              <a:rPr b="0" dirty="0"/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0400" y="8100000"/>
            <a:ext cx="11144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Analyzed </a:t>
            </a:r>
            <a:r>
              <a:t>by</a:t>
            </a:r>
            <a:r>
              <a:rPr b="0"/>
              <a:t>:</a:t>
            </a:r>
            <a:endParaRPr b="0" dirty="0"/>
          </a:p>
        </p:txBody>
      </p:sp>
      <p:sp>
        <p:nvSpPr>
          <p:cNvPr id="17" name="TextBox 16"/>
          <p:cNvSpPr txBox="1"/>
          <p:nvPr/>
        </p:nvSpPr>
        <p:spPr>
          <a:xfrm>
            <a:off x="190800" y="8380800"/>
            <a:ext cx="9492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Signed by</a:t>
            </a:r>
            <a:r>
              <a:rPr b="0"/>
              <a:t>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686772"/>
              </p:ext>
            </p:extLst>
          </p:nvPr>
        </p:nvGraphicFramePr>
        <p:xfrm>
          <a:off x="4510800" y="8208000"/>
          <a:ext cx="2062800" cy="2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분자 접수 번호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37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12889</TotalTime>
  <Words>1805</Words>
  <Application>Microsoft Macintosh PowerPoint</Application>
  <PresentationFormat>화면 슬라이드 쇼(4:3)</PresentationFormat>
  <Paragraphs>1188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severance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yudp3005</dc:creator>
  <cp:lastModifiedBy>Siwon Lee</cp:lastModifiedBy>
  <cp:revision>509</cp:revision>
  <dcterms:created xsi:type="dcterms:W3CDTF">2012-09-25T01:07:48Z</dcterms:created>
  <dcterms:modified xsi:type="dcterms:W3CDTF">2026-02-03T01:51:54Z</dcterms:modified>
</cp:coreProperties>
</file>