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4" r:id="rId3"/>
    <p:sldId id="263" r:id="rId4"/>
    <p:sldId id="261" r:id="rId5"/>
    <p:sldId id="262" r:id="rId6"/>
    <p:sldId id="265" r:id="rId7"/>
  </p:sldIdLst>
  <p:sldSz cx="6858000" cy="9144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4676" autoAdjust="0"/>
  </p:normalViewPr>
  <p:slideViewPr>
    <p:cSldViewPr>
      <p:cViewPr varScale="1">
        <p:scale>
          <a:sx n="124" d="100"/>
          <a:sy n="124" d="100"/>
        </p:scale>
        <p:origin x="3210" y="9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6038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AF433D-ACB8-475A-9DBB-3D1EBDB4B826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06600" y="746125"/>
            <a:ext cx="2794000" cy="3725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21225"/>
            <a:ext cx="5445125" cy="44719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6038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43651C-FA4E-4B4E-85CE-214D5592BC4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368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C43651C-FA4E-4B4E-85CE-214D5592BC47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0926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75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0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488951"/>
            <a:ext cx="1157288" cy="10401300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5" y="488951"/>
            <a:ext cx="3357563" cy="10401300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D992CD-CDBB-40CF-A1EE-0B1B8B43A805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827584"/>
            <a:ext cx="10972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 smtClean="0"/>
              <a:t>▣ </a:t>
            </a:r>
            <a:r>
              <a:rPr lang="ko-KR" altLang="en-US" sz="1200" b="1" dirty="0" err="1" smtClean="0"/>
              <a:t>검체</a:t>
            </a:r>
            <a:r>
              <a:rPr lang="ko-KR" altLang="en-US" sz="1200" b="1" dirty="0" smtClean="0"/>
              <a:t> 정보</a:t>
            </a:r>
            <a:endParaRPr lang="ko-KR" altLang="en-US" sz="1200" dirty="0"/>
          </a:p>
        </p:txBody>
      </p:sp>
      <p:sp>
        <p:nvSpPr>
          <p:cNvPr id="18" name="직사각형 17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260648" y="323528"/>
            <a:ext cx="62646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200" b="1" dirty="0" smtClean="0">
                <a:latin typeface="+mn-ea"/>
              </a:rPr>
              <a:t>NGS Panel Level II Analysis Report</a:t>
            </a:r>
            <a:endParaRPr lang="ko-KR" altLang="en-US" sz="2200" b="1" dirty="0"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188640" y="2339752"/>
            <a:ext cx="110318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▣ </a:t>
            </a:r>
            <a:r>
              <a:rPr lang="ko-KR" altLang="en-US" sz="1200" b="1" dirty="0" smtClean="0"/>
              <a:t>검사결과 </a:t>
            </a:r>
            <a:endParaRPr lang="ko-KR" altLang="en-US" sz="1200" b="1" dirty="0"/>
          </a:p>
        </p:txBody>
      </p:sp>
      <p:sp>
        <p:nvSpPr>
          <p:cNvPr id="16" name="직사각형 15"/>
          <p:cNvSpPr/>
          <p:nvPr/>
        </p:nvSpPr>
        <p:spPr>
          <a:xfrm>
            <a:off x="221161" y="2627784"/>
            <a:ext cx="261321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1. </a:t>
            </a:r>
            <a:r>
              <a:rPr lang="en-US" altLang="ko-KR" sz="1200" b="1" dirty="0" smtClean="0">
                <a:solidFill>
                  <a:srgbClr val="FF0000"/>
                </a:solidFill>
              </a:rPr>
              <a:t>Variants of clinical significance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24" name="Picture 5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13176" y="8503399"/>
            <a:ext cx="1512168" cy="4024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3" name="TextBox 32"/>
          <p:cNvSpPr txBox="1"/>
          <p:nvPr/>
        </p:nvSpPr>
        <p:spPr>
          <a:xfrm>
            <a:off x="116632" y="8235116"/>
            <a:ext cx="662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--------------------------------------------------------------------</a:t>
            </a:r>
            <a:endParaRPr lang="ko-KR" alt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260648" y="2926849"/>
            <a:ext cx="35283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- SNVs </a:t>
            </a:r>
            <a:r>
              <a:rPr lang="en-US" altLang="ko-KR" sz="1200" b="1" dirty="0"/>
              <a:t>&amp; </a:t>
            </a:r>
            <a:r>
              <a:rPr lang="en-US" altLang="ko-KR" sz="1200" b="1" dirty="0" err="1" smtClean="0"/>
              <a:t>Indels</a:t>
            </a:r>
            <a:endParaRPr lang="ko-KR" altLang="en-US" sz="1200" b="1" dirty="0"/>
          </a:p>
        </p:txBody>
      </p:sp>
      <p:sp>
        <p:nvSpPr>
          <p:cNvPr id="13" name="TextBox 31"/>
          <p:cNvSpPr txBox="1"/>
          <p:nvPr/>
        </p:nvSpPr>
        <p:spPr>
          <a:xfrm>
            <a:off x="188640" y="8532440"/>
            <a:ext cx="3142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dirty="0" smtClean="0"/>
              <a:t>검사기관 </a:t>
            </a:r>
            <a:r>
              <a:rPr lang="en-US" altLang="ko-KR" sz="800" dirty="0" smtClean="0"/>
              <a:t>: </a:t>
            </a:r>
            <a:r>
              <a:rPr lang="ko-KR" altLang="en-US" sz="800" dirty="0" err="1" smtClean="0"/>
              <a:t>세브란스병원</a:t>
            </a:r>
            <a:r>
              <a:rPr lang="ko-KR" altLang="en-US" sz="800" dirty="0" smtClean="0"/>
              <a:t> 병리과 분자병리 검사실</a:t>
            </a:r>
            <a:endParaRPr lang="en-US" altLang="ko-KR" sz="800" dirty="0" smtClean="0"/>
          </a:p>
          <a:p>
            <a:r>
              <a:rPr lang="ko-KR" altLang="en-US" sz="800" dirty="0" smtClean="0"/>
              <a:t>서울시 서대문구 연세로 </a:t>
            </a:r>
            <a:r>
              <a:rPr lang="en-US" altLang="ko-KR" sz="800" dirty="0" smtClean="0"/>
              <a:t>50-1 (</a:t>
            </a:r>
            <a:r>
              <a:rPr lang="ko-KR" altLang="en-US" sz="800" dirty="0" smtClean="0"/>
              <a:t>신촌동 </a:t>
            </a:r>
            <a:r>
              <a:rPr lang="en-US" altLang="ko-KR" sz="800" dirty="0" smtClean="0"/>
              <a:t>134) </a:t>
            </a:r>
            <a:r>
              <a:rPr lang="ko-KR" altLang="en-US" sz="800" dirty="0" err="1" smtClean="0"/>
              <a:t>세브란스병원</a:t>
            </a:r>
            <a:r>
              <a:rPr lang="ko-KR" altLang="en-US" sz="800" dirty="0" smtClean="0"/>
              <a:t> 병리과</a:t>
            </a:r>
            <a:endParaRPr lang="en-US" altLang="ko-KR" sz="800" dirty="0" smtClean="0"/>
          </a:p>
          <a:p>
            <a:r>
              <a:rPr lang="en-US" altLang="ko-KR" sz="800" dirty="0" smtClean="0"/>
              <a:t>Tel: 02-2228-2625</a:t>
            </a:r>
            <a:endParaRPr lang="ko-KR" altLang="en-US" sz="800" dirty="0"/>
          </a:p>
        </p:txBody>
      </p:sp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279162"/>
              </p:ext>
            </p:extLst>
          </p:nvPr>
        </p:nvGraphicFramePr>
        <p:xfrm>
          <a:off x="332656" y="3232744"/>
          <a:ext cx="6192689" cy="547200"/>
        </p:xfrm>
        <a:graphic>
          <a:graphicData uri="http://schemas.openxmlformats.org/drawingml/2006/table">
            <a:tbl>
              <a:tblPr/>
              <a:tblGrid>
                <a:gridCol w="5897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MUTATION TYPE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AA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VAF (%)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HGVSc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HGVSp</a:t>
                      </a:r>
                      <a:endParaRPr lang="en-US" sz="800" b="1" i="0" u="none" strike="noStrike" dirty="0" smtClean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 smtClean="0"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+mn-ea"/>
                        <a:cs typeface="Arial" pitchFamily="34" charset="0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0" name="직사각형 19"/>
          <p:cNvSpPr/>
          <p:nvPr/>
        </p:nvSpPr>
        <p:spPr>
          <a:xfrm>
            <a:off x="260648" y="4150985"/>
            <a:ext cx="12234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- Fusion gene</a:t>
            </a:r>
            <a:r>
              <a:rPr lang="en-US" altLang="ko-KR" sz="1200" dirty="0" smtClean="0"/>
              <a:t>:</a:t>
            </a:r>
            <a:endParaRPr lang="ko-KR" altLang="en-US" sz="1200" b="1" dirty="0"/>
          </a:p>
        </p:txBody>
      </p:sp>
      <p:sp>
        <p:nvSpPr>
          <p:cNvPr id="21" name="직사각형 20"/>
          <p:cNvSpPr/>
          <p:nvPr/>
        </p:nvSpPr>
        <p:spPr>
          <a:xfrm>
            <a:off x="260648" y="5207102"/>
            <a:ext cx="20260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- Copy number variation</a:t>
            </a:r>
            <a:r>
              <a:rPr lang="en-US" altLang="ko-KR" sz="1200" dirty="0" smtClean="0"/>
              <a:t>:</a:t>
            </a:r>
            <a:endParaRPr lang="ko-KR" altLang="en-US" sz="1200" b="1" dirty="0"/>
          </a:p>
        </p:txBody>
      </p:sp>
      <p:sp>
        <p:nvSpPr>
          <p:cNvPr id="25" name="직사각형 24"/>
          <p:cNvSpPr/>
          <p:nvPr/>
        </p:nvSpPr>
        <p:spPr>
          <a:xfrm>
            <a:off x="260648" y="6263219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 smtClean="0"/>
              <a:t>- Splice variant</a:t>
            </a:r>
            <a:r>
              <a:rPr lang="en-US" altLang="ko-KR" sz="1200" dirty="0" smtClean="0"/>
              <a:t>:</a:t>
            </a:r>
            <a:endParaRPr lang="ko-KR" altLang="en-US" sz="1200" dirty="0"/>
          </a:p>
        </p:txBody>
      </p:sp>
      <p:graphicFrame>
        <p:nvGraphicFramePr>
          <p:cNvPr id="26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806607"/>
              </p:ext>
            </p:extLst>
          </p:nvPr>
        </p:nvGraphicFramePr>
        <p:xfrm>
          <a:off x="332656" y="5511752"/>
          <a:ext cx="6192688" cy="504418"/>
        </p:xfrm>
        <a:graphic>
          <a:graphicData uri="http://schemas.openxmlformats.org/drawingml/2006/table">
            <a:tbl>
              <a:tblPr/>
              <a:tblGrid>
                <a:gridCol w="807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5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01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255715"/>
              </p:ext>
            </p:extLst>
          </p:nvPr>
        </p:nvGraphicFramePr>
        <p:xfrm>
          <a:off x="332656" y="4453447"/>
          <a:ext cx="6192688" cy="504418"/>
        </p:xfrm>
        <a:graphic>
          <a:graphicData uri="http://schemas.openxmlformats.org/drawingml/2006/table">
            <a:tbl>
              <a:tblPr/>
              <a:tblGrid>
                <a:gridCol w="952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72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 FUSION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2</a:t>
                      </a:r>
                      <a:endParaRPr lang="en-U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FUSION SUPPORTING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0" name="직사각형 29"/>
          <p:cNvSpPr/>
          <p:nvPr/>
        </p:nvSpPr>
        <p:spPr>
          <a:xfrm>
            <a:off x="260648" y="7319337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 smtClean="0"/>
              <a:t>- Other Biomarkers</a:t>
            </a:r>
            <a:endParaRPr lang="ko-KR" altLang="en-US" sz="1200" dirty="0"/>
          </a:p>
        </p:txBody>
      </p:sp>
      <p:graphicFrame>
        <p:nvGraphicFramePr>
          <p:cNvPr id="31" name="표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8859408"/>
              </p:ext>
            </p:extLst>
          </p:nvPr>
        </p:nvGraphicFramePr>
        <p:xfrm>
          <a:off x="332657" y="6568183"/>
          <a:ext cx="6192688" cy="518400"/>
        </p:xfrm>
        <a:graphic>
          <a:graphicData uri="http://schemas.openxmlformats.org/drawingml/2006/table">
            <a:tbl>
              <a:tblPr/>
              <a:tblGrid>
                <a:gridCol w="620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GENE</a:t>
                      </a:r>
                      <a:endParaRPr lang="en-US" sz="800" b="1" i="0" u="none" strike="noStrike" kern="120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AFFECTED</a:t>
                      </a:r>
                      <a:r>
                        <a:rPr lang="ko-KR" alt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</a:t>
                      </a:r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SPLICE SUPPORTING</a:t>
                      </a:r>
                      <a:r>
                        <a:rPr lang="en-US" sz="800" b="1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114572"/>
              </p:ext>
            </p:extLst>
          </p:nvPr>
        </p:nvGraphicFramePr>
        <p:xfrm>
          <a:off x="259200" y="1116000"/>
          <a:ext cx="6336000" cy="69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92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검체 정보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성별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나이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Unit NO.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환자명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채취 장기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원발 장기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진단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72445"/>
              </p:ext>
            </p:extLst>
          </p:nvPr>
        </p:nvGraphicFramePr>
        <p:xfrm>
          <a:off x="259200" y="1818000"/>
          <a:ext cx="6336000" cy="5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74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의뢰의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의뢰의 소속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검체 유형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검체의 적절성여부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검체접수일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결과보고일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4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647665"/>
              </p:ext>
            </p:extLst>
          </p:nvPr>
        </p:nvGraphicFramePr>
        <p:xfrm>
          <a:off x="331200" y="7668000"/>
          <a:ext cx="6192000" cy="5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Estimated Tumor Mutation Burden (TMB)</a:t>
                      </a:r>
                    </a:p>
                  </a:txBody>
                  <a:tcPr marL="46800" marR="46800" marT="46800" marB="468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Microsatellite Instability (MSI) (% Unstable MSI Sites)</a:t>
                      </a:r>
                    </a:p>
                  </a:txBody>
                  <a:tcPr marL="46800" marR="46800" marT="46800" marB="468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 smtClean="0"/>
                        <a:t>/</a:t>
                      </a:r>
                      <a:r>
                        <a:rPr dirty="0" err="1"/>
                        <a:t>Megabase</a:t>
                      </a:r>
                      <a:endParaRPr dirty="0"/>
                    </a:p>
                  </a:txBody>
                  <a:tcPr marL="46800" marR="46800" marT="46800" marB="46800" anchor="ctr"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 smtClean="0"/>
                        <a:t>%</a:t>
                      </a:r>
                      <a:endParaRPr dirty="0"/>
                    </a:p>
                  </a:txBody>
                  <a:tcPr marL="46800" marR="46800" marT="46800" marB="46800" anchor="ctr"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graphicFrame>
        <p:nvGraphicFramePr>
          <p:cNvPr id="23" name="표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1145218"/>
              </p:ext>
            </p:extLst>
          </p:nvPr>
        </p:nvGraphicFramePr>
        <p:xfrm>
          <a:off x="280355" y="784632"/>
          <a:ext cx="6316998" cy="547200"/>
        </p:xfrm>
        <a:graphic>
          <a:graphicData uri="http://schemas.openxmlformats.org/drawingml/2006/table">
            <a:tbl>
              <a:tblPr/>
              <a:tblGrid>
                <a:gridCol w="6016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68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841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MUTATION TYPE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AA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VAF (%)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HGVSc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HGVSp</a:t>
                      </a:r>
                      <a:endParaRPr lang="en-US" sz="800" b="1" i="0" u="none" strike="noStrike" dirty="0" smtClean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 smtClean="0"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+mn-ea"/>
                        <a:cs typeface="Arial" pitchFamily="34" charset="0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6" name="직사각형 25"/>
          <p:cNvSpPr/>
          <p:nvPr/>
        </p:nvSpPr>
        <p:spPr>
          <a:xfrm>
            <a:off x="221161" y="179512"/>
            <a:ext cx="279275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2. Variants of unknown significance</a:t>
            </a:r>
            <a:endParaRPr lang="ko-KR" altLang="en-US" sz="1200" b="1" dirty="0"/>
          </a:p>
        </p:txBody>
      </p:sp>
      <p:sp>
        <p:nvSpPr>
          <p:cNvPr id="28" name="TextBox 27"/>
          <p:cNvSpPr txBox="1"/>
          <p:nvPr/>
        </p:nvSpPr>
        <p:spPr>
          <a:xfrm>
            <a:off x="260648" y="478577"/>
            <a:ext cx="35283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- SNVs </a:t>
            </a:r>
            <a:r>
              <a:rPr lang="en-US" altLang="ko-KR" sz="1200" b="1" dirty="0"/>
              <a:t>&amp; </a:t>
            </a:r>
            <a:r>
              <a:rPr lang="en-US" altLang="ko-KR" sz="1200" b="1" dirty="0" err="1" smtClean="0"/>
              <a:t>Indels</a:t>
            </a:r>
            <a:endParaRPr lang="ko-KR" altLang="en-US" sz="1200" b="1" dirty="0"/>
          </a:p>
        </p:txBody>
      </p:sp>
      <p:sp>
        <p:nvSpPr>
          <p:cNvPr id="29" name="직사각형 28"/>
          <p:cNvSpPr/>
          <p:nvPr/>
        </p:nvSpPr>
        <p:spPr>
          <a:xfrm>
            <a:off x="260648" y="4588331"/>
            <a:ext cx="12234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- Fusion gene</a:t>
            </a:r>
            <a:r>
              <a:rPr lang="en-US" altLang="ko-KR" sz="1200" dirty="0" smtClean="0"/>
              <a:t>:</a:t>
            </a:r>
            <a:endParaRPr lang="ko-KR" altLang="en-US" sz="1200" b="1" dirty="0"/>
          </a:p>
        </p:txBody>
      </p:sp>
      <p:sp>
        <p:nvSpPr>
          <p:cNvPr id="30" name="직사각형 29"/>
          <p:cNvSpPr/>
          <p:nvPr/>
        </p:nvSpPr>
        <p:spPr>
          <a:xfrm>
            <a:off x="260648" y="5533859"/>
            <a:ext cx="20260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- Copy number variation</a:t>
            </a:r>
            <a:r>
              <a:rPr lang="en-US" altLang="ko-KR" sz="1200" dirty="0" smtClean="0"/>
              <a:t>:</a:t>
            </a:r>
            <a:endParaRPr lang="ko-KR" altLang="en-US" sz="1200" b="1" dirty="0"/>
          </a:p>
        </p:txBody>
      </p:sp>
      <p:sp>
        <p:nvSpPr>
          <p:cNvPr id="31" name="직사각형 30"/>
          <p:cNvSpPr/>
          <p:nvPr/>
        </p:nvSpPr>
        <p:spPr>
          <a:xfrm>
            <a:off x="268532" y="7424914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 smtClean="0"/>
              <a:t>- Splice variant</a:t>
            </a:r>
            <a:r>
              <a:rPr lang="en-US" altLang="ko-KR" sz="1200" dirty="0" smtClean="0"/>
              <a:t>:</a:t>
            </a:r>
            <a:endParaRPr lang="ko-KR" altLang="en-US" sz="1200" dirty="0"/>
          </a:p>
        </p:txBody>
      </p:sp>
      <p:graphicFrame>
        <p:nvGraphicFramePr>
          <p:cNvPr id="16" name="표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226063"/>
              </p:ext>
            </p:extLst>
          </p:nvPr>
        </p:nvGraphicFramePr>
        <p:xfrm>
          <a:off x="332656" y="5834953"/>
          <a:ext cx="6192688" cy="504418"/>
        </p:xfrm>
        <a:graphic>
          <a:graphicData uri="http://schemas.openxmlformats.org/drawingml/2006/table">
            <a:tbl>
              <a:tblPr/>
              <a:tblGrid>
                <a:gridCol w="807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5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01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9097282"/>
              </p:ext>
            </p:extLst>
          </p:nvPr>
        </p:nvGraphicFramePr>
        <p:xfrm>
          <a:off x="332656" y="4889426"/>
          <a:ext cx="6192688" cy="504418"/>
        </p:xfrm>
        <a:graphic>
          <a:graphicData uri="http://schemas.openxmlformats.org/drawingml/2006/table">
            <a:tbl>
              <a:tblPr/>
              <a:tblGrid>
                <a:gridCol w="952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72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 FUSION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2</a:t>
                      </a:r>
                      <a:endParaRPr lang="en-U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FUSION SUPPORTING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783642"/>
              </p:ext>
            </p:extLst>
          </p:nvPr>
        </p:nvGraphicFramePr>
        <p:xfrm>
          <a:off x="332657" y="7726008"/>
          <a:ext cx="6192688" cy="518400"/>
        </p:xfrm>
        <a:graphic>
          <a:graphicData uri="http://schemas.openxmlformats.org/drawingml/2006/table">
            <a:tbl>
              <a:tblPr/>
              <a:tblGrid>
                <a:gridCol w="620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GENE</a:t>
                      </a:r>
                      <a:endParaRPr lang="en-US" sz="800" b="1" i="0" u="none" strike="noStrike" kern="120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AFFECTED</a:t>
                      </a:r>
                      <a:r>
                        <a:rPr lang="ko-KR" alt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</a:t>
                      </a:r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SPLICE SUPPORTING</a:t>
                      </a:r>
                      <a:r>
                        <a:rPr lang="en-US" sz="800" b="1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직사각형 20"/>
          <p:cNvSpPr/>
          <p:nvPr/>
        </p:nvSpPr>
        <p:spPr>
          <a:xfrm>
            <a:off x="260648" y="8471465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 smtClean="0"/>
              <a:t>3. Failed gene: </a:t>
            </a:r>
            <a:r>
              <a:rPr lang="en-US" altLang="ko-KR" sz="1200" dirty="0" smtClean="0"/>
              <a:t>None</a:t>
            </a:r>
            <a:endParaRPr lang="ko-KR" altLang="en-US" sz="1200" dirty="0"/>
          </a:p>
        </p:txBody>
      </p:sp>
      <p:sp>
        <p:nvSpPr>
          <p:cNvPr id="13" name="직사각형 12"/>
          <p:cNvSpPr/>
          <p:nvPr/>
        </p:nvSpPr>
        <p:spPr>
          <a:xfrm>
            <a:off x="260648" y="6479387"/>
            <a:ext cx="28471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- Large rearrangements in BRCA1/2</a:t>
            </a:r>
            <a:r>
              <a:rPr lang="en-US" altLang="ko-KR" sz="1200" dirty="0" smtClean="0"/>
              <a:t>:</a:t>
            </a:r>
            <a:endParaRPr lang="ko-KR" altLang="en-US" sz="1200" b="1" dirty="0"/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89699"/>
              </p:ext>
            </p:extLst>
          </p:nvPr>
        </p:nvGraphicFramePr>
        <p:xfrm>
          <a:off x="332656" y="6780480"/>
          <a:ext cx="6192688" cy="504418"/>
        </p:xfrm>
        <a:graphic>
          <a:graphicData uri="http://schemas.openxmlformats.org/drawingml/2006/table">
            <a:tbl>
              <a:tblPr/>
              <a:tblGrid>
                <a:gridCol w="72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688187205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AFFECTED EXON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9098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7" name="직사각형 16"/>
          <p:cNvSpPr/>
          <p:nvPr/>
        </p:nvSpPr>
        <p:spPr>
          <a:xfrm>
            <a:off x="280354" y="323528"/>
            <a:ext cx="110799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▣</a:t>
            </a:r>
            <a:r>
              <a:rPr lang="ko-KR" altLang="fr-FR" sz="1200" b="1" dirty="0" smtClean="0"/>
              <a:t> </a:t>
            </a:r>
            <a:r>
              <a:rPr lang="fr-FR" altLang="ko-KR" sz="1200" b="1" dirty="0" smtClean="0"/>
              <a:t>Comment</a:t>
            </a:r>
            <a:endParaRPr lang="ko-KR" altLang="en-US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223365" y="8456657"/>
            <a:ext cx="644599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900" dirty="0" smtClean="0">
                <a:latin typeface="+mj-lt"/>
                <a:ea typeface="굴림" pitchFamily="50" charset="-127"/>
              </a:rPr>
              <a:t>* </a:t>
            </a:r>
            <a:r>
              <a:rPr lang="ko-KR" altLang="en-US" sz="900" dirty="0" smtClean="0">
                <a:latin typeface="+mj-lt"/>
                <a:ea typeface="굴림" pitchFamily="50" charset="-127"/>
              </a:rPr>
              <a:t>본 검사의 </a:t>
            </a:r>
            <a:r>
              <a:rPr lang="en-US" altLang="ko-KR" sz="900" dirty="0" smtClean="0">
                <a:latin typeface="+mj-lt"/>
                <a:ea typeface="굴림" pitchFamily="50" charset="-127"/>
              </a:rPr>
              <a:t>raw data (BAM, FASTQ, VCF)</a:t>
            </a:r>
            <a:r>
              <a:rPr lang="ko-KR" altLang="en-US" sz="900" dirty="0" smtClean="0">
                <a:latin typeface="+mj-lt"/>
                <a:ea typeface="굴림" pitchFamily="50" charset="-127"/>
              </a:rPr>
              <a:t> 파일은 분자 병리 검사실 내 병리과 서버 컴퓨터에서 보관</a:t>
            </a:r>
            <a:r>
              <a:rPr lang="en-US" altLang="ko-KR" sz="900" dirty="0" smtClean="0">
                <a:latin typeface="+mj-lt"/>
                <a:ea typeface="굴림" pitchFamily="50" charset="-127"/>
              </a:rPr>
              <a:t>, </a:t>
            </a:r>
            <a:r>
              <a:rPr lang="ko-KR" altLang="en-US" sz="900" dirty="0" smtClean="0">
                <a:latin typeface="+mj-lt"/>
                <a:ea typeface="굴림" pitchFamily="50" charset="-127"/>
              </a:rPr>
              <a:t>관리되고 있습니다</a:t>
            </a:r>
            <a:r>
              <a:rPr lang="en-US" altLang="ko-KR" sz="900" dirty="0" smtClean="0">
                <a:latin typeface="+mj-lt"/>
                <a:ea typeface="굴림" pitchFamily="50" charset="-127"/>
              </a:rPr>
              <a:t>.</a:t>
            </a:r>
            <a:r>
              <a:rPr lang="ko-KR" altLang="en-US" sz="900" dirty="0" smtClean="0">
                <a:latin typeface="+mj-lt"/>
                <a:ea typeface="굴림" pitchFamily="50" charset="-127"/>
              </a:rPr>
              <a:t> </a:t>
            </a:r>
            <a:endParaRPr lang="en-US" altLang="ko-KR" sz="900" dirty="0" smtClean="0">
              <a:latin typeface="+mj-lt"/>
              <a:ea typeface="굴림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900" dirty="0" smtClean="0">
                <a:latin typeface="+mj-lt"/>
                <a:ea typeface="굴림" pitchFamily="50" charset="-127"/>
              </a:rPr>
              <a:t>*</a:t>
            </a:r>
            <a:r>
              <a:rPr lang="ko-KR" altLang="en-US" sz="900" dirty="0" smtClean="0">
                <a:latin typeface="+mj-lt"/>
                <a:ea typeface="굴림" pitchFamily="50" charset="-127"/>
              </a:rPr>
              <a:t> 본 검사의 결과는 </a:t>
            </a:r>
            <a:r>
              <a:rPr lang="ko-KR" altLang="en-US" sz="900" dirty="0" err="1" smtClean="0">
                <a:latin typeface="+mj-lt"/>
                <a:ea typeface="굴림" pitchFamily="50" charset="-127"/>
              </a:rPr>
              <a:t>검체에</a:t>
            </a:r>
            <a:r>
              <a:rPr lang="ko-KR" altLang="en-US" sz="900" dirty="0" smtClean="0">
                <a:latin typeface="+mj-lt"/>
                <a:ea typeface="굴림" pitchFamily="50" charset="-127"/>
              </a:rPr>
              <a:t> 포함된 정상세포와 암세포의 비율에 따라  </a:t>
            </a:r>
            <a:r>
              <a:rPr lang="ko-KR" altLang="en-US" sz="900" dirty="0" err="1" smtClean="0">
                <a:latin typeface="+mj-lt"/>
                <a:ea typeface="굴림" pitchFamily="50" charset="-127"/>
              </a:rPr>
              <a:t>위음성의</a:t>
            </a:r>
            <a:r>
              <a:rPr lang="ko-KR" altLang="en-US" sz="900" dirty="0" smtClean="0">
                <a:latin typeface="+mj-lt"/>
                <a:ea typeface="굴림" pitchFamily="50" charset="-127"/>
              </a:rPr>
              <a:t> 결과를 배제 할 수 없습니다</a:t>
            </a:r>
            <a:r>
              <a:rPr lang="en-US" altLang="ko-KR" sz="900" dirty="0" smtClean="0">
                <a:latin typeface="+mj-lt"/>
                <a:ea typeface="굴림" pitchFamily="50" charset="-127"/>
              </a:rPr>
              <a:t>.</a:t>
            </a:r>
            <a:r>
              <a:rPr lang="ko-KR" altLang="en-US" sz="900" dirty="0" smtClean="0">
                <a:latin typeface="+mj-lt"/>
                <a:ea typeface="굴림" pitchFamily="50" charset="-127"/>
              </a:rPr>
              <a:t> </a:t>
            </a:r>
            <a:endParaRPr lang="ko-KR" altLang="en-US" sz="900" dirty="0">
              <a:latin typeface="+mj-lt"/>
              <a:ea typeface="굴림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80354" y="755576"/>
            <a:ext cx="6316999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endParaRPr lang="en-US" altLang="ko-KR" sz="800" dirty="0" smtClean="0"/>
          </a:p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r>
              <a:rPr lang="en-US" altLang="ko-KR" sz="800" dirty="0" smtClean="0"/>
              <a:t>*</a:t>
            </a:r>
            <a:r>
              <a:rPr lang="ko-KR" altLang="en-US" sz="800" dirty="0"/>
              <a:t>본 기관의 유전자 정보 검색 및 해석은 </a:t>
            </a:r>
            <a:r>
              <a:rPr lang="en-US" altLang="ko-KR" sz="800" dirty="0" err="1"/>
              <a:t>dbSNP</a:t>
            </a:r>
            <a:r>
              <a:rPr lang="en-US" altLang="ko-KR" sz="800" dirty="0"/>
              <a:t>, COSMIC, </a:t>
            </a:r>
            <a:r>
              <a:rPr lang="en-US" altLang="ko-KR" sz="800" dirty="0" err="1"/>
              <a:t>ClinVar</a:t>
            </a:r>
            <a:r>
              <a:rPr lang="en-US" altLang="ko-KR" sz="800" dirty="0"/>
              <a:t>, c-</a:t>
            </a:r>
            <a:r>
              <a:rPr lang="en-US" altLang="ko-KR" sz="800" dirty="0" err="1"/>
              <a:t>bioportal</a:t>
            </a:r>
            <a:r>
              <a:rPr lang="ko-KR" altLang="en-US" sz="800" dirty="0"/>
              <a:t>  등의 유전자 정보검색 사이트를 참고로 하고 있습니다</a:t>
            </a:r>
            <a:r>
              <a:rPr lang="en-US" altLang="ko-KR" sz="800" dirty="0"/>
              <a:t>. </a:t>
            </a:r>
            <a:r>
              <a:rPr lang="ko-KR" altLang="en-US" sz="800" dirty="0"/>
              <a:t>또한</a:t>
            </a:r>
            <a:r>
              <a:rPr lang="en-US" altLang="ko-KR" sz="800" dirty="0"/>
              <a:t>, </a:t>
            </a:r>
            <a:r>
              <a:rPr lang="ko-KR" altLang="en-US" sz="800" dirty="0"/>
              <a:t>발견된 유전자 변이의 임상적 의미에 대하여</a:t>
            </a:r>
            <a:r>
              <a:rPr lang="en-US" altLang="ko-KR" sz="800" dirty="0"/>
              <a:t>,</a:t>
            </a:r>
            <a:r>
              <a:rPr lang="ko-KR" altLang="en-US" sz="800" dirty="0"/>
              <a:t> 아래 참고 문헌에 기반한 </a:t>
            </a:r>
            <a:r>
              <a:rPr lang="en-US" altLang="ko-KR" sz="800" dirty="0"/>
              <a:t>4</a:t>
            </a:r>
            <a:r>
              <a:rPr lang="ko-KR" altLang="en-US" sz="800" dirty="0"/>
              <a:t>단계 시스템 </a:t>
            </a:r>
            <a:r>
              <a:rPr lang="en-US" altLang="ko-KR" sz="800" dirty="0"/>
              <a:t>(Tier I: Strong clinical significance, Tier II: Potential  Clinical significance, Tier III: Unknown Clinical significance, Tier IV: Benign or Likely Benign) </a:t>
            </a:r>
            <a:r>
              <a:rPr lang="ko-KR" altLang="en-US" sz="800" dirty="0"/>
              <a:t>을 적용하여 보고하고 있습니다</a:t>
            </a:r>
            <a:r>
              <a:rPr lang="en-US" altLang="ko-KR" sz="800" dirty="0"/>
              <a:t>. </a:t>
            </a:r>
            <a:r>
              <a:rPr lang="ko-KR" altLang="en-US" sz="800" dirty="0"/>
              <a:t>또한 </a:t>
            </a:r>
            <a:r>
              <a:rPr lang="en-US" altLang="ko-KR" sz="800" dirty="0"/>
              <a:t>normal cell sequencing</a:t>
            </a:r>
            <a:r>
              <a:rPr lang="ko-KR" altLang="en-US" sz="800" dirty="0"/>
              <a:t>이 이루어지지 않아 일부 변이의 경우 </a:t>
            </a:r>
            <a:r>
              <a:rPr lang="en-US" altLang="ko-KR" sz="800" dirty="0"/>
              <a:t>germline polymorphism</a:t>
            </a:r>
            <a:r>
              <a:rPr lang="ko-KR" altLang="en-US" sz="800" dirty="0"/>
              <a:t>의 가능성을 배제할 수 없습니다</a:t>
            </a:r>
            <a:r>
              <a:rPr lang="en-US" altLang="ko-KR" sz="8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800" dirty="0"/>
              <a:t>Standards and Guidelines for the Interpretation and Reporting of Sequence Variants in Cancer. A Joint Consensus Recommendation of the Association for Molecular Pathology, American Society of Clinical Oncology and College of American Pathologists. </a:t>
            </a:r>
            <a:r>
              <a:rPr lang="it-IT" altLang="ko-KR" sz="800" dirty="0"/>
              <a:t>J Mol Diagn. 2017; 19(1):4-23</a:t>
            </a:r>
            <a:r>
              <a:rPr lang="it-IT" altLang="ko-KR" sz="800" dirty="0" smtClean="0"/>
              <a:t>.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628696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2" name="직사각형 11"/>
          <p:cNvSpPr/>
          <p:nvPr/>
        </p:nvSpPr>
        <p:spPr>
          <a:xfrm>
            <a:off x="188640" y="5076056"/>
            <a:ext cx="132440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▣ Specification</a:t>
            </a:r>
            <a:endParaRPr lang="ko-KR" altLang="en-US" sz="1200" b="1" dirty="0"/>
          </a:p>
        </p:txBody>
      </p:sp>
      <p:sp>
        <p:nvSpPr>
          <p:cNvPr id="17" name="직사각형 16"/>
          <p:cNvSpPr/>
          <p:nvPr/>
        </p:nvSpPr>
        <p:spPr>
          <a:xfrm>
            <a:off x="188640" y="262553"/>
            <a:ext cx="10631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▣ </a:t>
            </a:r>
            <a:r>
              <a:rPr lang="ko-KR" altLang="en-US" sz="1200" b="1" dirty="0" smtClean="0"/>
              <a:t>검사정보</a:t>
            </a:r>
            <a:r>
              <a:rPr lang="en-US" altLang="ko-KR" sz="1200" b="1" dirty="0" smtClean="0"/>
              <a:t> </a:t>
            </a:r>
            <a:endParaRPr lang="ko-KR" altLang="en-US" sz="1200" b="1" dirty="0"/>
          </a:p>
        </p:txBody>
      </p:sp>
      <p:sp>
        <p:nvSpPr>
          <p:cNvPr id="19" name="직사각형 18"/>
          <p:cNvSpPr/>
          <p:nvPr/>
        </p:nvSpPr>
        <p:spPr>
          <a:xfrm>
            <a:off x="188640" y="4439017"/>
            <a:ext cx="17259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▣ Analysis Program </a:t>
            </a:r>
            <a:endParaRPr lang="ko-KR" altLang="en-US" sz="1200" b="1" dirty="0"/>
          </a:p>
        </p:txBody>
      </p:sp>
      <p:sp>
        <p:nvSpPr>
          <p:cNvPr id="18" name="직사각형 17"/>
          <p:cNvSpPr/>
          <p:nvPr/>
        </p:nvSpPr>
        <p:spPr>
          <a:xfrm>
            <a:off x="188640" y="1630705"/>
            <a:ext cx="13776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▣ Filter history</a:t>
            </a:r>
            <a:r>
              <a:rPr lang="ko-KR" altLang="en-US" sz="1200" b="1" dirty="0" smtClean="0"/>
              <a:t> </a:t>
            </a:r>
            <a:endParaRPr lang="ko-KR" altLang="en-US" sz="1200" b="1" dirty="0"/>
          </a:p>
        </p:txBody>
      </p:sp>
      <p:sp>
        <p:nvSpPr>
          <p:cNvPr id="21" name="Rectangle 1"/>
          <p:cNvSpPr>
            <a:spLocks noChangeArrowheads="1"/>
          </p:cNvSpPr>
          <p:nvPr/>
        </p:nvSpPr>
        <p:spPr bwMode="auto">
          <a:xfrm>
            <a:off x="332656" y="1857762"/>
            <a:ext cx="6336704" cy="5539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1" lang="en-US" altLang="ko-KR" sz="1000" b="1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Include :</a:t>
            </a:r>
            <a:r>
              <a:rPr kumimoji="1" lang="en-US" altLang="ko-KR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</a:t>
            </a:r>
            <a:r>
              <a:rPr kumimoji="1" lang="en-US" altLang="ko-KR" sz="1000" b="0" i="0" u="none" strike="noStrike" cap="none" normalizeH="0" baseline="0" dirty="0" err="1" smtClean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Exonic</a:t>
            </a:r>
            <a:r>
              <a:rPr kumimoji="1" lang="en-US" altLang="ko-KR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,</a:t>
            </a:r>
            <a:r>
              <a:rPr kumimoji="1" lang="en-US" altLang="ko-KR" sz="1000" b="0" i="0" u="none" strike="noStrike" cap="none" normalizeH="0" dirty="0" smtClean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Illumina Q.C Filter PASS</a:t>
            </a:r>
            <a:r>
              <a:rPr kumimoji="1" lang="en-US" altLang="ko-KR" sz="1000" dirty="0" smtClean="0">
                <a:ea typeface="맑은 고딕" pitchFamily="50" charset="-127"/>
                <a:cs typeface="Arial" pitchFamily="34" charset="0"/>
              </a:rPr>
              <a:t>, Fold change &lt;0.5 or &gt;1.5 </a:t>
            </a:r>
            <a:endParaRPr kumimoji="1" lang="en-US" altLang="ko-KR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j-lt"/>
              <a:ea typeface="굴림" pitchFamily="50" charset="-127"/>
              <a:cs typeface="굴림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ko-KR" sz="1000" b="1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Exclude :</a:t>
            </a:r>
            <a:r>
              <a:rPr kumimoji="1" lang="en-US" altLang="ko-KR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</a:t>
            </a:r>
            <a:r>
              <a:rPr kumimoji="1" lang="en-US" altLang="ko-KR" sz="1000" dirty="0" smtClean="0">
                <a:solidFill>
                  <a:srgbClr val="000000"/>
                </a:solidFill>
                <a:latin typeface="+mj-lt"/>
                <a:ea typeface="맑은 고딕" pitchFamily="50" charset="-127"/>
                <a:cs typeface="Arial" pitchFamily="34" charset="0"/>
              </a:rPr>
              <a:t>S</a:t>
            </a:r>
            <a:r>
              <a:rPr kumimoji="1" lang="en-US" altLang="ko-KR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ynonymous, VAF &lt;3%, total depth &lt;100, refer depth=0 </a:t>
            </a:r>
            <a:endParaRPr kumimoji="1" lang="en-US" altLang="ko-KR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j-lt"/>
              <a:ea typeface="굴림" pitchFamily="50" charset="-127"/>
              <a:cs typeface="굴림" pitchFamily="50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188640" y="3142873"/>
            <a:ext cx="64421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▣ Q.C</a:t>
            </a:r>
            <a:endParaRPr lang="ko-KR" altLang="en-US" sz="1200" b="1" dirty="0"/>
          </a:p>
        </p:txBody>
      </p:sp>
      <p:sp>
        <p:nvSpPr>
          <p:cNvPr id="26" name="직사각형 25"/>
          <p:cNvSpPr/>
          <p:nvPr/>
        </p:nvSpPr>
        <p:spPr>
          <a:xfrm>
            <a:off x="188640" y="2494801"/>
            <a:ext cx="1742785" cy="276999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b="1" dirty="0" smtClean="0"/>
              <a:t>▣ DNA, RNA </a:t>
            </a:r>
            <a:r>
              <a:rPr lang="en-US" altLang="ko-KR" sz="700" b="1" dirty="0" smtClean="0"/>
              <a:t>(</a:t>
            </a:r>
            <a:r>
              <a:rPr lang="en-US" altLang="ko-KR" sz="700" b="1" dirty="0" err="1" smtClean="0"/>
              <a:t>Qubit</a:t>
            </a:r>
            <a:r>
              <a:rPr lang="en-US" altLang="ko-KR" sz="700" b="1" dirty="0" smtClean="0"/>
              <a:t> </a:t>
            </a:r>
            <a:r>
              <a:rPr lang="ko-KR" altLang="en-US" sz="700" b="1" dirty="0" smtClean="0"/>
              <a:t>농도</a:t>
            </a:r>
            <a:r>
              <a:rPr lang="en-US" altLang="ko-KR" sz="700" b="1" dirty="0" smtClean="0"/>
              <a:t>)</a:t>
            </a:r>
            <a:endParaRPr lang="ko-KR" altLang="en-US" sz="700" b="1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69264"/>
              </p:ext>
            </p:extLst>
          </p:nvPr>
        </p:nvGraphicFramePr>
        <p:xfrm>
          <a:off x="685800" y="5364088"/>
          <a:ext cx="5551512" cy="3431588"/>
        </p:xfrm>
        <a:graphic>
          <a:graphicData uri="http://schemas.openxmlformats.org/drawingml/2006/table">
            <a:tbl>
              <a:tblPr/>
              <a:tblGrid>
                <a:gridCol w="1734848">
                  <a:extLst>
                    <a:ext uri="{9D8B030D-6E8A-4147-A177-3AD203B41FA5}">
                      <a16:colId xmlns:a16="http://schemas.microsoft.com/office/drawing/2014/main" val="2732149327"/>
                    </a:ext>
                  </a:extLst>
                </a:gridCol>
                <a:gridCol w="3816664">
                  <a:extLst>
                    <a:ext uri="{9D8B030D-6E8A-4147-A177-3AD203B41FA5}">
                      <a16:colId xmlns:a16="http://schemas.microsoft.com/office/drawing/2014/main" val="1281755945"/>
                    </a:ext>
                  </a:extLst>
                </a:gridCol>
              </a:tblGrid>
              <a:tr h="28888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Parameter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TruSight Oncology </a:t>
                      </a:r>
                      <a:r>
                        <a:rPr lang="en-US" sz="10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500 / TruSight</a:t>
                      </a:r>
                      <a:r>
                        <a:rPr lang="en-US" sz="1000" b="1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RNA Fusion Panel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9144152"/>
                  </a:ext>
                </a:extLst>
              </a:tr>
              <a:tr h="20134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System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NextSeq</a:t>
                      </a:r>
                      <a:r>
                        <a:rPr 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550Dx or</a:t>
                      </a:r>
                      <a:r>
                        <a:rPr lang="en-US" sz="10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1000" b="0" i="0" u="none" strike="noStrike" baseline="0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NovaSeq</a:t>
                      </a:r>
                      <a:r>
                        <a:rPr lang="en-US" sz="10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6000Dx </a:t>
                      </a:r>
                      <a:r>
                        <a:rPr 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(research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mode)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260796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Panel size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1.94 Mb DNA, 358 kb </a:t>
                      </a:r>
                      <a:r>
                        <a:rPr lang="pl-PL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</a:t>
                      </a:r>
                      <a:r>
                        <a:rPr 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/ 1.44Mb RNA</a:t>
                      </a:r>
                      <a:endParaRPr lang="pl-PL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587711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 ng total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7872059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RNA‡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 ng total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82547"/>
                  </a:ext>
                </a:extLst>
              </a:tr>
              <a:tr h="43770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FFPE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Minimum recommendation of 0.65㎣ from FFPE tissue </a:t>
                      </a:r>
                      <a:b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samples (5 slides cut at 10 microns thick)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998587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 assay time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3-4 days from nucleic acid to variant report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960087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Sequene run time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 or 19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hours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270099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Sequene run 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 X 101 cycles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039286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 size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 or 48 samples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365999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Sample throughput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 or 16 or 32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samples per run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9956572"/>
                  </a:ext>
                </a:extLst>
              </a:tr>
              <a:tr h="57776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Limit of detection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5% VAF for small variants</a:t>
                      </a:r>
                      <a:b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 copies per ng RNA input for fusions</a:t>
                      </a:r>
                      <a:b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1.5x fold-change for CNVs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3031292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Analytical sensitivity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&gt;96% (for all variant types at 5% VAF)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62599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Analytical specificity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&gt;99.99%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500912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32656" y="1248615"/>
            <a:ext cx="6192688" cy="293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</a:pPr>
            <a:r>
              <a:rPr lang="en-US" altLang="ko-KR" sz="1000" b="1" dirty="0" smtClean="0">
                <a:latin typeface="+mj-lt"/>
              </a:rPr>
              <a:t>Reference genome : </a:t>
            </a:r>
            <a:r>
              <a:rPr lang="en-US" altLang="ko-KR" sz="1000" dirty="0" err="1" smtClean="0">
                <a:latin typeface="+mj-lt"/>
              </a:rPr>
              <a:t>Homo_sapiens</a:t>
            </a:r>
            <a:r>
              <a:rPr lang="en-US" altLang="ko-KR" sz="1000" dirty="0" smtClean="0">
                <a:latin typeface="+mj-lt"/>
              </a:rPr>
              <a:t>/ UCSC/ hg19 </a:t>
            </a:r>
            <a:endParaRPr lang="ko-KR" altLang="en-US" sz="1000" dirty="0">
              <a:latin typeface="+mj-l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32656" y="523900"/>
            <a:ext cx="61926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/>
            <a:r>
              <a:rPr lang="ko-KR" altLang="en-US" sz="1000" b="1" dirty="0" smtClean="0">
                <a:latin typeface="+mj-lt"/>
              </a:rPr>
              <a:t>검사시약 </a:t>
            </a:r>
            <a:r>
              <a:rPr lang="en-US" altLang="ko-KR" sz="1000" b="1" dirty="0" smtClean="0">
                <a:latin typeface="+mj-lt"/>
              </a:rPr>
              <a:t>: </a:t>
            </a:r>
            <a:r>
              <a:rPr lang="en-US" altLang="ko-KR" sz="1000" dirty="0" err="1" smtClean="0">
                <a:latin typeface="+mj-lt"/>
              </a:rPr>
              <a:t>AllPrep</a:t>
            </a:r>
            <a:r>
              <a:rPr lang="en-US" altLang="ko-KR" sz="1000" dirty="0" smtClean="0">
                <a:latin typeface="+mj-lt"/>
              </a:rPr>
              <a:t> DNA/RNA FFPE Kit (50) [</a:t>
            </a:r>
            <a:r>
              <a:rPr lang="en-US" altLang="ko-KR" sz="1000" dirty="0" err="1" smtClean="0">
                <a:latin typeface="+mj-lt"/>
              </a:rPr>
              <a:t>Qiagen</a:t>
            </a:r>
            <a:r>
              <a:rPr lang="en-US" altLang="ko-KR" sz="1000" dirty="0" smtClean="0">
                <a:latin typeface="+mj-lt"/>
              </a:rPr>
              <a:t>], TruSight™ Oncology 500 kit [Illumina]</a:t>
            </a:r>
          </a:p>
          <a:p>
            <a:pPr marL="228600" indent="-228600"/>
            <a:r>
              <a:rPr lang="en-US" altLang="ko-KR" sz="1000" dirty="0" smtClean="0">
                <a:latin typeface="+mj-lt"/>
              </a:rPr>
              <a:t>                                                                   </a:t>
            </a:r>
            <a:r>
              <a:rPr lang="en-US" altLang="ko-KR" sz="1000" dirty="0" smtClean="0">
                <a:solidFill>
                  <a:schemeClr val="bg1"/>
                </a:solidFill>
                <a:latin typeface="+mj-lt"/>
              </a:rPr>
              <a:t>,,</a:t>
            </a:r>
            <a:r>
              <a:rPr lang="en-US" altLang="ko-KR" sz="1000" dirty="0" smtClean="0"/>
              <a:t>TruSight™ RNA Fusion Panel [Illumina]</a:t>
            </a:r>
            <a:endParaRPr lang="en-US" altLang="ko-KR" sz="1000" dirty="0" smtClean="0">
              <a:latin typeface="+mj-lt"/>
            </a:endParaRPr>
          </a:p>
          <a:p>
            <a:pPr marL="228600" indent="-228600"/>
            <a:r>
              <a:rPr lang="ko-KR" altLang="en-US" sz="1000" b="1" dirty="0" smtClean="0">
                <a:latin typeface="+mj-lt"/>
              </a:rPr>
              <a:t>검사방법 </a:t>
            </a:r>
            <a:r>
              <a:rPr lang="en-US" altLang="ko-KR" sz="1000" b="1" dirty="0" smtClean="0">
                <a:latin typeface="+mj-lt"/>
              </a:rPr>
              <a:t>: </a:t>
            </a:r>
            <a:r>
              <a:rPr lang="en-US" altLang="ko-KR" sz="1000" dirty="0" smtClean="0"/>
              <a:t>NGS targeted DNA/RNA sequencing (Library : Hybrid capture)</a:t>
            </a:r>
            <a:endParaRPr lang="en-US" altLang="ko-KR" sz="1000" dirty="0" smtClean="0">
              <a:latin typeface="+mj-l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60000" y="2844000"/>
            <a:ext cx="316304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/>
            </a:pPr>
            <a:r>
              <a:rPr dirty="0"/>
              <a:t>DNA (ng/</a:t>
            </a:r>
            <a:r>
              <a:rPr dirty="0" err="1"/>
              <a:t>ul</a:t>
            </a:r>
            <a:r>
              <a:rPr dirty="0"/>
              <a:t>) : </a:t>
            </a:r>
            <a:r>
              <a:rPr lang="en-US" dirty="0" smtClean="0"/>
              <a:t>    </a:t>
            </a:r>
            <a:r>
              <a:rPr dirty="0" smtClean="0"/>
              <a:t>                           RNA </a:t>
            </a:r>
            <a:r>
              <a:rPr dirty="0"/>
              <a:t>(ng/</a:t>
            </a:r>
            <a:r>
              <a:rPr dirty="0" err="1"/>
              <a:t>ul</a:t>
            </a:r>
            <a:r>
              <a:rPr dirty="0"/>
              <a:t>) </a:t>
            </a:r>
            <a:r>
              <a:rPr dirty="0" smtClean="0"/>
              <a:t>:</a:t>
            </a:r>
            <a:endParaRPr dirty="0"/>
          </a:p>
        </p:txBody>
      </p:sp>
      <p:graphicFrame>
        <p:nvGraphicFramePr>
          <p:cNvPr id="28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582698"/>
              </p:ext>
            </p:extLst>
          </p:nvPr>
        </p:nvGraphicFramePr>
        <p:xfrm>
          <a:off x="406799" y="3445200"/>
          <a:ext cx="3340800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97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Metric (UOM)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LSL Guideline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PCT_PF_READS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PCT_Q30_R1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PCT_Q30_R2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403200" y="4752000"/>
            <a:ext cx="4737600" cy="255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03200" y="4752000"/>
            <a:ext cx="4737600" cy="255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/>
            </a:pPr>
            <a:r>
              <a:t>DRAGEN TSO500 ( Workflow Version : 2.5.2 )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1200" y="1072800"/>
            <a:ext cx="72648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rPr dirty="0" err="1"/>
              <a:t>검사기기</a:t>
            </a:r>
            <a:r>
              <a:rPr b="0" dirty="0" smtClean="0"/>
              <a:t>:</a:t>
            </a:r>
            <a:endParaRPr b="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4" name="직사각형 13"/>
          <p:cNvSpPr/>
          <p:nvPr/>
        </p:nvSpPr>
        <p:spPr>
          <a:xfrm>
            <a:off x="188640" y="251520"/>
            <a:ext cx="43675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▣ </a:t>
            </a:r>
            <a:r>
              <a:rPr lang="en-US" altLang="ko-KR" sz="1200" b="1" dirty="0" smtClean="0">
                <a:latin typeface="+mn-ea"/>
              </a:rPr>
              <a:t>Gene Content in the NGS Sarcoma Panel Assay [DNA]</a:t>
            </a:r>
            <a:endParaRPr lang="ko-KR" altLang="en-US" sz="1200" b="1" dirty="0">
              <a:latin typeface="+mn-ea"/>
            </a:endParaRPr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7526780"/>
              </p:ext>
            </p:extLst>
          </p:nvPr>
        </p:nvGraphicFramePr>
        <p:xfrm>
          <a:off x="261764" y="528528"/>
          <a:ext cx="6278096" cy="7499842"/>
        </p:xfrm>
        <a:graphic>
          <a:graphicData uri="http://schemas.openxmlformats.org/drawingml/2006/table">
            <a:tbl>
              <a:tblPr/>
              <a:tblGrid>
                <a:gridCol w="570736">
                  <a:extLst>
                    <a:ext uri="{9D8B030D-6E8A-4147-A177-3AD203B41FA5}">
                      <a16:colId xmlns:a16="http://schemas.microsoft.com/office/drawing/2014/main" val="7462408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3839514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0462231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34118930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58516634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185590329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89000154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0060412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98451860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4180727997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471167280"/>
                    </a:ext>
                  </a:extLst>
                </a:gridCol>
              </a:tblGrid>
              <a:tr h="153058">
                <a:tc gridSpan="11"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 Content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289775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CUX1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FAM175A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POLE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612726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BRIP1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CXCR4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FAM46C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GEN1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NPM1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TBX3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14376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ACVR1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CYLD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GID4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PPM1D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TCEB1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2655112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ACVR1B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DAXX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IKBKE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RYBP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613525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C11orf30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DCUN1D1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IKZF1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NSD1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TCF7L2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8432672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CALR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PPP6C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SDHAF2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606933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CARD11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DDX41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GNAQ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IL7R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MCL1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TERT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5117875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CASP8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DHX15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INHA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PREX2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1866304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ALOX12B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CBFB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DICER1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GPR124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INHBA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MDM2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NUP93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PRKAR1A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217488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INPP4A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MDM4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NUTM1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PRKCI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SETBP1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TFE3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9920458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ANKRD26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DNAJB1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GREM1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INPP4B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PRKDC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94346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GRIN2A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MEF2B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PRSS8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SF3B1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1644773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FBXW7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GRM3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SH2B3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5576401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CCNE1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GSK3B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PALB2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PTEN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SH2D1A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TMEM127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979296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ARFRP1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CD274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DOT1L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MGA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PTPN11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SHQ1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TMPRSS2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71757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CD276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E2F3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MITF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TNFAIP3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85449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EED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SLX4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TNFRSF14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682829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CD79A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EGFL7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HGF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39129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CD79B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FGF23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HIST1H1C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QKI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991164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ASXL1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CDC73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EIF1AX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HIST1H2BD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JUN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MPL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RAB35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TP53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5579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ASXL2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KAT6A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MRE11A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PBRM1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TP63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249853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PDCD1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RAD21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TRAF2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120967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PDCD1LG2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TRAF7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431595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ATRX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EP300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KDM6A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SMC1A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952836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AURKA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EPCAM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954756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AURKB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MST1R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SMO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TSHR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915831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AXIN1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PDPK1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SNCAIP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U2AF1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19773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AXIN2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KIF5B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MUTYH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PGR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SOCS1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VEGFA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915874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PHF6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RAD54L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VHL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72033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B2M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HIST1H3J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KLF4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PHOX2B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SOX17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VTCN1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75064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KLHL6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RANBP2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WISP3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397148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CENPA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FLCN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PIK3C2G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056521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BBC3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MYD88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RASA1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SPEN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XIAP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0634011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HIST3H3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MYOD1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SPOP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XPO1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554566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CHEK1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RBM10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SPTA1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XRCC2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1684104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CHEK2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LAMP1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NBN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RECQL4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437119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CIC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SRSF2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YES1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5449288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CREBBP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HNF1A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LATS2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057511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CRKL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ERRFI1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HNRNPK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LMO1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NEGR1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RFWD2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ZBTB7A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94965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CRLF2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HOXB13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LRP1B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RHEB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ZFHX3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783446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FRS2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LYN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RHOA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ZNF217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692078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CSF3R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FUBP1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HSD3B1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LZTR1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NFE2L2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PLCG2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RICTOR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ZNF703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642522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BIRC3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CSNK1A1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FYN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HSP90AA1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MAGI2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NFKBIA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RIT1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ZRSR2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71368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BLM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CTCF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GABRA6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ICOSLG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NKX2-1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PMAIP1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RNF43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STK11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75579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BMPR1A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CTLA4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NKX3-1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STK40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8074021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EWSR1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SUFU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851867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EZH2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PNRC1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SUZ12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028094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CUL3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FAM123B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IFNGR1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POLD1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811827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pic>
        <p:nvPicPr>
          <p:cNvPr id="6" name="Picture 5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9160" y="8532440"/>
            <a:ext cx="1728192" cy="3999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TextBox 12"/>
          <p:cNvSpPr txBox="1"/>
          <p:nvPr/>
        </p:nvSpPr>
        <p:spPr>
          <a:xfrm>
            <a:off x="116632" y="7875076"/>
            <a:ext cx="662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--------------------------------------------------------------------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188640" y="251520"/>
            <a:ext cx="435311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 smtClean="0"/>
              <a:t>▣ </a:t>
            </a:r>
            <a:r>
              <a:rPr lang="en-US" altLang="ko-KR" sz="1200" b="1" dirty="0" smtClean="0">
                <a:latin typeface="+mn-ea"/>
              </a:rPr>
              <a:t>Gene Content in the </a:t>
            </a:r>
            <a:r>
              <a:rPr lang="en-US" altLang="ko-KR" sz="1200" b="1" dirty="0">
                <a:latin typeface="+mn-ea"/>
              </a:rPr>
              <a:t>NGS Sarcoma Panel Assay </a:t>
            </a:r>
            <a:r>
              <a:rPr lang="en-US" altLang="ko-KR" sz="1200" b="1" dirty="0" smtClean="0">
                <a:latin typeface="+mn-ea"/>
              </a:rPr>
              <a:t>[RNA]</a:t>
            </a:r>
            <a:endParaRPr lang="ko-KR" altLang="en-US" sz="1200" b="1" dirty="0">
              <a:latin typeface="+mn-ea"/>
            </a:endParaRPr>
          </a:p>
        </p:txBody>
      </p:sp>
      <p:sp>
        <p:nvSpPr>
          <p:cNvPr id="10" name="TextBox 31"/>
          <p:cNvSpPr txBox="1"/>
          <p:nvPr/>
        </p:nvSpPr>
        <p:spPr>
          <a:xfrm>
            <a:off x="188640" y="8656711"/>
            <a:ext cx="4320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smtClean="0"/>
              <a:t>검사기관 </a:t>
            </a:r>
            <a:r>
              <a:rPr lang="en-US" altLang="ko-KR" sz="700" dirty="0" smtClean="0"/>
              <a:t>: </a:t>
            </a:r>
            <a:r>
              <a:rPr lang="ko-KR" altLang="en-US" sz="700" dirty="0" err="1" smtClean="0"/>
              <a:t>세브란스병원</a:t>
            </a:r>
            <a:r>
              <a:rPr lang="ko-KR" altLang="en-US" sz="700" dirty="0" smtClean="0"/>
              <a:t> 병리과 분자병리 검사실</a:t>
            </a:r>
            <a:endParaRPr lang="en-US" altLang="ko-KR" sz="700" dirty="0" smtClean="0"/>
          </a:p>
          <a:p>
            <a:r>
              <a:rPr lang="ko-KR" altLang="en-US" sz="700" dirty="0" smtClean="0"/>
              <a:t>서울시 서대문구 연세로 </a:t>
            </a:r>
            <a:r>
              <a:rPr lang="en-US" altLang="ko-KR" sz="700" dirty="0" smtClean="0"/>
              <a:t>50-1 (</a:t>
            </a:r>
            <a:r>
              <a:rPr lang="ko-KR" altLang="en-US" sz="700" dirty="0" smtClean="0"/>
              <a:t>신촌동 </a:t>
            </a:r>
            <a:r>
              <a:rPr lang="en-US" altLang="ko-KR" sz="700" dirty="0" smtClean="0"/>
              <a:t>134) </a:t>
            </a:r>
            <a:r>
              <a:rPr lang="ko-KR" altLang="en-US" sz="700" dirty="0" smtClean="0"/>
              <a:t>세브란스병원 병리과</a:t>
            </a:r>
            <a:r>
              <a:rPr lang="en-US" altLang="ko-KR" sz="700" dirty="0"/>
              <a:t> </a:t>
            </a:r>
            <a:r>
              <a:rPr lang="en-US" altLang="ko-KR" sz="700" dirty="0" smtClean="0"/>
              <a:t>Tel: 02-2228-2625</a:t>
            </a:r>
            <a:endParaRPr lang="ko-KR" altLang="en-US" sz="700" dirty="0"/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8996207"/>
              </p:ext>
            </p:extLst>
          </p:nvPr>
        </p:nvGraphicFramePr>
        <p:xfrm>
          <a:off x="261764" y="528528"/>
          <a:ext cx="6278096" cy="7499856"/>
        </p:xfrm>
        <a:graphic>
          <a:graphicData uri="http://schemas.openxmlformats.org/drawingml/2006/table">
            <a:tbl>
              <a:tblPr/>
              <a:tblGrid>
                <a:gridCol w="570736">
                  <a:extLst>
                    <a:ext uri="{9D8B030D-6E8A-4147-A177-3AD203B41FA5}">
                      <a16:colId xmlns:a16="http://schemas.microsoft.com/office/drawing/2014/main" val="7462408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3839514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0462231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34118930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58516634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185590329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89000154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0060412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98451860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4180727997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471167280"/>
                    </a:ext>
                  </a:extLst>
                </a:gridCol>
              </a:tblGrid>
              <a:tr h="147056">
                <a:tc gridSpan="11"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 </a:t>
                      </a:r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Content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289775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ABI1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BRD4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COG5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GTF2I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LINC00598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NCOA1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PHF23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SERPINE1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TEAD3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ZMYND11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612726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BRWD3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COL1A1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H2AFX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LINC00982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NCOA2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PICALM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SERPINF1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TEAD4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ZNF207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14376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BTBD18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COL1A2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ERG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HAS2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LMBRD1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NCOA3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ZNF384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2655112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ACACA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BTG1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COL6A3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ERLIN2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HEY1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LMO1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NDE1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PLAG1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SETBP1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TENM1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ZNF444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613525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ACE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C11orf1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COX6C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HHEX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LMO2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SFPQ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ZNF521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8432672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ACER1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C11orf95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CPSF6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ETS1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LNP1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NFATC2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POM121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SH3D19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TFE3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ZNF585B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606933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ACKR3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C2CD2L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CRADD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HIPK1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LPP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NFIB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POU2AF1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SH3GL1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TFG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ZNF687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5117875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ACSL6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C3orf27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HIST1H4I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LPXN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NGF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POU5F1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SIK3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TFPT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1866304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ADD3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CAMTA1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CREB3L1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LRMP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NGFR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PPAP2B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SLC34A2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TFRC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217488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AFF1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CAPRIN1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CREB3L2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HMGA2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LRRC37B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NIN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SLC45A3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9920458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AFF3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CARS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CREBBP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EWSR1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HNF1A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LTBP1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NIPBL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PPARGC1A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SLCO1B3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THADA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94346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AFF4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CASC5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CRLF2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EZR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HOXA10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LYL1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NKX2-5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PPFIBP1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THRAP3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1644773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AGR3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CASP7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CRTC1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FAM19A2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HOXA11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MACROD1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NONO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PPP2R1B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SMARCA5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TIRAP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5576401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AHI1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CBFA2T3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FCGR2B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HOXA13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PRCC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TLX1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979296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AHRR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CBFB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FCRL4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HOXA9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MAFB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NPM1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PRDM16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SNHG5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TLX3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71757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ALK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CTDSP2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FEN1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HOXC11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MALT1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NR4A3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PRKACA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SORBS2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TMPRSS2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85449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ANKRD28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CCAR2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FEV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HOXC13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MAML2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NR6A1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PRKAR1A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SORT1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TNFRSF17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682829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CCDC28A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CUX1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HOXD11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MAPRE1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NSD1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PRKG2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39129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ARHGAP20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CCDC6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DAB2IP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HOXD13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MBNL1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NT5C2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PRRX2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SPECC1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TOP2B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991164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ARHGAP26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CCDC88C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DACH1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FGFR1OP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HSP90AA1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MBTD1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NTF3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PSIP1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SPTBN1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TP53BP1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5579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ARNT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CCNB1IP1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DACH2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FGFR1OP2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MDS2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NTF4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PSMD2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SQSTM1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TPM3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249853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ASPSCR1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CCNB3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DDIT3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IKZF1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MEAF6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TPM4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120967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ASTN2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DDX10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MECOM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PVT1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SRSF3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TRHDE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431595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DDX20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IL21R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MGEA5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RABEP1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SS18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TRIM24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952836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ATIC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DEK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FHIT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MKL1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NUMA1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RAD51B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SS18L1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TRIP11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954756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ATP1B4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DMRT1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FIP1L1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INPP5D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MKL2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NUP107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RAF1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SSBP2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TRPS1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915831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AUTS2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CDH11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DNAJB1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FLI1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IQCG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NUP214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RANBP2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SSX1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USP16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19773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BACH2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CDK5RAP2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DPM1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FLNA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IRF2BP2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NUP98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RAP1GDS1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SSX2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USP42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915874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BAG4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DUSP22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MLLT10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NUTM1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RARA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SSX4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USP6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72033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BAIAP2L1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CDX1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DUX4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FLT3LG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NUTM2A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RBM15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ST6GAL1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VGLL3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75064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BAZ2A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CDX2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EBF1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FNBP1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ITK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NUTM2B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RBM6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WASF2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397148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BCAS3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EEFSEC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FOSB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OFD1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RCOR1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STAT6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WDR18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056521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BCAS4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FOSL1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OLIG2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RCSD1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STRN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WDR70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0634011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BCL10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CEBPD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FOXO1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JAZF1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MN1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OLR1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RET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SUGP2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WHSC1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554566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BCL11A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CEBPE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EGR2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FOXO4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KANK1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MNX1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OMD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RHOH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SUZ12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WHSC1L1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1684104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BCL11B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CEP170B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EGR3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KAT6A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MSI2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P2RY8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RNF213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SYK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WSB1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437119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CEP85L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EGR4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FRK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KAT6B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MSN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PAPPA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ROS1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TACC1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WT1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5449288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EIF4A2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FRYL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PATZ1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RPL22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TACC2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WWTR1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057511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CHIC2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ELF4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FUS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KIAA1524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MUTYH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RPN1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TACC3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XIAP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94965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CHMP2B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ELK4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GAS5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KIF5B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RREB1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TAF15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YAP1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783446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BCL9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CHST11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GAS7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MYBL1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RRM1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YTHDF2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692078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CIC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ELN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KPNB1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RTEL1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TAL2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YWHAE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642522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CIITA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GIT2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KSR1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MYH11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PBX1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TAOK1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ZBTB16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71368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BDNF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CLP1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GLI1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MYH9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PCM1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TBX15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ZC3H7A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75579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BICC1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CLTC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EP300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GOSR1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LCK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MYO18A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PDE4DIP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SARNP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TCF12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ZC3H7B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8074021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BIRC3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CLTCL1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EP400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LCP1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MYO1F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SEC31A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ZFP64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851867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BIRC6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CMKLR1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GPR128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LGR5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NAB2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SEPT2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TCL1A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ZFPM2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028094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CNBP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EPOR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GPR34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LHFP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NAPA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SEPT5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TCTA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ZFYVE19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811827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CNOT2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EPS15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GRHPR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LHX2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NBEAP1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SEPT6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TEAD1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ZMIZ1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86026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BRD3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CNTRL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GRID1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LHX4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NBR1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SEPT9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TEAD2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ZMYM2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490837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0800" y="8100000"/>
            <a:ext cx="9205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Tested by</a:t>
            </a:r>
            <a:r>
              <a:rPr b="0" dirty="0" smtClean="0"/>
              <a:t>:</a:t>
            </a:r>
            <a:endParaRPr b="0" dirty="0"/>
          </a:p>
        </p:txBody>
      </p:sp>
      <p:sp>
        <p:nvSpPr>
          <p:cNvPr id="16" name="TextBox 15"/>
          <p:cNvSpPr txBox="1"/>
          <p:nvPr/>
        </p:nvSpPr>
        <p:spPr>
          <a:xfrm>
            <a:off x="2570400" y="8100000"/>
            <a:ext cx="2015999" cy="27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Analyzed by</a:t>
            </a:r>
            <a:r>
              <a:rPr b="0" dirty="0"/>
              <a:t>: </a:t>
            </a:r>
            <a:r>
              <a:rPr b="0" dirty="0" smtClean="0"/>
              <a:t>이청</a:t>
            </a:r>
            <a:endParaRPr b="0" dirty="0"/>
          </a:p>
        </p:txBody>
      </p:sp>
      <p:sp>
        <p:nvSpPr>
          <p:cNvPr id="17" name="TextBox 16"/>
          <p:cNvSpPr txBox="1"/>
          <p:nvPr/>
        </p:nvSpPr>
        <p:spPr>
          <a:xfrm>
            <a:off x="190800" y="8380800"/>
            <a:ext cx="2015999" cy="27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Signed by</a:t>
            </a:r>
            <a:r>
              <a:rPr b="0"/>
              <a:t>:              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686772"/>
              </p:ext>
            </p:extLst>
          </p:nvPr>
        </p:nvGraphicFramePr>
        <p:xfrm>
          <a:off x="4510800" y="8208000"/>
          <a:ext cx="2062800" cy="2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분자 접수 번호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1378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12889</TotalTime>
  <Words>1748</Words>
  <Application>Microsoft Office PowerPoint</Application>
  <PresentationFormat>화면 슬라이드 쇼(4:3)</PresentationFormat>
  <Paragraphs>1188</Paragraphs>
  <Slides>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굴림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severance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yudp3005</dc:creator>
  <cp:lastModifiedBy>이청(병리과)</cp:lastModifiedBy>
  <cp:revision>507</cp:revision>
  <dcterms:created xsi:type="dcterms:W3CDTF">2012-09-25T01:07:48Z</dcterms:created>
  <dcterms:modified xsi:type="dcterms:W3CDTF">2025-08-07T22:58:36Z</dcterms:modified>
</cp:coreProperties>
</file>