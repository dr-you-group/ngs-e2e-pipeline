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3" r:id="rId4"/>
    <p:sldId id="261" r:id="rId5"/>
    <p:sldId id="262" r:id="rId6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8" autoAdjust="0"/>
    <p:restoredTop sz="94676" autoAdjust="0"/>
  </p:normalViewPr>
  <p:slideViewPr>
    <p:cSldViewPr>
      <p:cViewPr varScale="1">
        <p:scale>
          <a:sx n="93" d="100"/>
          <a:sy n="93" d="100"/>
        </p:scale>
        <p:origin x="3792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52971"/>
              </p:ext>
            </p:extLst>
          </p:nvPr>
        </p:nvGraphicFramePr>
        <p:xfrm>
          <a:off x="332656" y="3232744"/>
          <a:ext cx="6170116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88895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31037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669659"/>
              </p:ext>
            </p:extLst>
          </p:nvPr>
        </p:nvGraphicFramePr>
        <p:xfrm>
          <a:off x="331200" y="7668000"/>
          <a:ext cx="6192000" cy="5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Estimated Tumor Mutation Burden 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Microsatellite Instability (MSI) 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 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5927"/>
              </p:ext>
            </p:extLst>
          </p:nvPr>
        </p:nvGraphicFramePr>
        <p:xfrm>
          <a:off x="280355" y="784632"/>
          <a:ext cx="6325971" cy="547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 </a:t>
            </a:r>
            <a:r>
              <a:rPr lang="ko-KR" altLang="en-US" sz="900" dirty="0">
                <a:latin typeface="+mj-lt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+mj-lt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+mj-lt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+mj-lt"/>
                <a:ea typeface="굴림" pitchFamily="50" charset="-127"/>
              </a:rPr>
              <a:t>, </a:t>
            </a:r>
            <a:r>
              <a:rPr lang="ko-KR" altLang="en-US" sz="900" dirty="0">
                <a:latin typeface="+mj-lt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  <a:endParaRPr lang="en-US" altLang="ko-KR" sz="900" dirty="0">
              <a:latin typeface="+mj-lt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</a:t>
            </a:r>
            <a:r>
              <a:rPr lang="ko-KR" altLang="en-US" sz="900" dirty="0">
                <a:latin typeface="+mj-lt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검체에</a:t>
            </a:r>
            <a:r>
              <a:rPr lang="ko-KR" altLang="en-US" sz="900" dirty="0">
                <a:latin typeface="+mj-lt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+mj-lt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5076056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332656" y="561753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+mj-lt"/>
              </a:rPr>
              <a:t>검사시약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 err="1">
                <a:latin typeface="+mj-lt"/>
              </a:rPr>
              <a:t>AllPrep</a:t>
            </a:r>
            <a:r>
              <a:rPr lang="en-US" altLang="ko-KR" sz="1000" dirty="0">
                <a:latin typeface="+mj-lt"/>
              </a:rPr>
              <a:t> DNA/RNA FFPE Kit (50) [</a:t>
            </a:r>
            <a:r>
              <a:rPr lang="en-US" altLang="ko-KR" sz="1000" dirty="0" err="1">
                <a:latin typeface="+mj-lt"/>
              </a:rPr>
              <a:t>Qiagen</a:t>
            </a:r>
            <a:r>
              <a:rPr lang="en-US" altLang="ko-KR" sz="1000" dirty="0">
                <a:latin typeface="+mj-lt"/>
              </a:rPr>
              <a:t>], TruSight™ Oncology 500 kit [Illumina]</a:t>
            </a:r>
          </a:p>
          <a:p>
            <a:pPr marL="228600" indent="-228600">
              <a:lnSpc>
                <a:spcPct val="150000"/>
              </a:lnSpc>
            </a:pPr>
            <a:r>
              <a:rPr lang="ko-KR" altLang="en-US" sz="1000" b="1" dirty="0">
                <a:latin typeface="+mj-lt"/>
              </a:rPr>
              <a:t>검사방법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+mj-lt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439017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630705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857762"/>
            <a:ext cx="633670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3142873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494801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sp>
        <p:nvSpPr>
          <p:cNvPr id="8" name="직사각형 7"/>
          <p:cNvSpPr/>
          <p:nvPr/>
        </p:nvSpPr>
        <p:spPr>
          <a:xfrm>
            <a:off x="404664" y="4750132"/>
            <a:ext cx="473883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DRAGEN TSO500</a:t>
            </a:r>
            <a:r>
              <a:rPr lang="en-US" altLang="ko-KR" sz="1050" dirty="0"/>
              <a:t> ( Workflow Version : 2.5.2 )</a:t>
            </a:r>
            <a:endParaRPr lang="ko-KR" altLang="en-US" sz="105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006631"/>
              </p:ext>
            </p:extLst>
          </p:nvPr>
        </p:nvGraphicFramePr>
        <p:xfrm>
          <a:off x="685800" y="5364088"/>
          <a:ext cx="5551512" cy="3431588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2732149327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1281755945"/>
                    </a:ext>
                  </a:extLst>
                </a:gridCol>
              </a:tblGrid>
              <a:tr h="2888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Oncology 500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44152"/>
                  </a:ext>
                </a:extLst>
              </a:tr>
              <a:tr h="201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0796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 358 kb RNA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7711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7205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RNA‡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2547"/>
                  </a:ext>
                </a:extLst>
              </a:tr>
              <a:tr h="43770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0.65㎣ from FFPE tissue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samples (5 slides cut at 10 microns thick)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587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60087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00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39286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6599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572"/>
                  </a:ext>
                </a:extLst>
              </a:tr>
              <a:tr h="57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5% VAF for small variants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copies per ng RNA input for fusions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1.5x fold-change for CNVs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31292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&gt;96% (for all variant types at 5% VAF)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25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091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2656" y="1248615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Reference genome : </a:t>
            </a:r>
            <a:r>
              <a:rPr lang="en-US" altLang="ko-KR" sz="1000" dirty="0" err="1">
                <a:latin typeface="+mj-lt"/>
              </a:rPr>
              <a:t>Homo_sapiens</a:t>
            </a:r>
            <a:r>
              <a:rPr lang="en-US" altLang="ko-KR" sz="1000" dirty="0">
                <a:latin typeface="+mj-lt"/>
              </a:rPr>
              <a:t>/ UCSC/ hg19 </a:t>
            </a:r>
            <a:endParaRPr lang="ko-KR" altLang="en-US" sz="1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844000"/>
            <a:ext cx="26693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                </a:t>
            </a:r>
            <a:r>
              <a:rPr dirty="0"/>
              <a:t>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5370"/>
              </p:ext>
            </p:extLst>
          </p:nvPr>
        </p:nvGraphicFramePr>
        <p:xfrm>
          <a:off x="406799" y="3445200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331200" y="1072800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5973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TruSight Oncology 500 panel Assay 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72933"/>
              </p:ext>
            </p:extLst>
          </p:nvPr>
        </p:nvGraphicFramePr>
        <p:xfrm>
          <a:off x="261764" y="528528"/>
          <a:ext cx="6278096" cy="7499855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36361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429128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29489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615055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786802"/>
                  </a:ext>
                </a:extLst>
              </a:tr>
              <a:tr h="1363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09434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by</a:t>
            </a:r>
            <a:r>
              <a:rPr b="0" dirty="0"/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Signed by</a:t>
            </a:r>
            <a:r>
              <a:rPr b="0" dirty="0"/>
              <a:t>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892213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12872</TotalTime>
  <Words>1321</Words>
  <Application>Microsoft Macintosh PowerPoint</Application>
  <PresentationFormat>화면 슬라이드 쇼(4:3)</PresentationFormat>
  <Paragraphs>734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499</cp:revision>
  <dcterms:created xsi:type="dcterms:W3CDTF">2012-09-25T01:07:48Z</dcterms:created>
  <dcterms:modified xsi:type="dcterms:W3CDTF">2026-03-05T01:31:41Z</dcterms:modified>
</cp:coreProperties>
</file>