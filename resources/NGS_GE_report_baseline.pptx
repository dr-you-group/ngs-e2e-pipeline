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3" r:id="rId4"/>
    <p:sldId id="261" r:id="rId5"/>
    <p:sldId id="262" r:id="rId6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88" autoAdjust="0"/>
    <p:restoredTop sz="94676" autoAdjust="0"/>
  </p:normalViewPr>
  <p:slideViewPr>
    <p:cSldViewPr>
      <p:cViewPr varScale="1">
        <p:scale>
          <a:sx n="93" d="100"/>
          <a:sy n="93" d="100"/>
        </p:scale>
        <p:origin x="3792" y="20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 err="1"/>
              <a:t>검체</a:t>
            </a:r>
            <a:r>
              <a:rPr lang="ko-KR" altLang="en-US" sz="1200" b="1" dirty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검사결과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1. </a:t>
            </a:r>
            <a:r>
              <a:rPr lang="en-US" altLang="ko-KR" sz="1200" b="1" dirty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/>
              <a:t>검사기관 </a:t>
            </a:r>
            <a:r>
              <a:rPr lang="en-US" altLang="ko-KR" sz="800" dirty="0"/>
              <a:t>: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 분자병리 검사실</a:t>
            </a:r>
            <a:endParaRPr lang="en-US" altLang="ko-KR" sz="800" dirty="0"/>
          </a:p>
          <a:p>
            <a:r>
              <a:rPr lang="ko-KR" altLang="en-US" sz="800" dirty="0"/>
              <a:t>서울시 서대문구 연세로 </a:t>
            </a:r>
            <a:r>
              <a:rPr lang="en-US" altLang="ko-KR" sz="800" dirty="0"/>
              <a:t>50-1 (</a:t>
            </a:r>
            <a:r>
              <a:rPr lang="ko-KR" altLang="en-US" sz="800" dirty="0"/>
              <a:t>신촌동 </a:t>
            </a:r>
            <a:r>
              <a:rPr lang="en-US" altLang="ko-KR" sz="800" dirty="0"/>
              <a:t>134)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</a:t>
            </a:r>
            <a:endParaRPr lang="en-US" altLang="ko-KR" sz="800" dirty="0"/>
          </a:p>
          <a:p>
            <a:r>
              <a:rPr lang="en-US" altLang="ko-KR" sz="800" dirty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125706"/>
              </p:ext>
            </p:extLst>
          </p:nvPr>
        </p:nvGraphicFramePr>
        <p:xfrm>
          <a:off x="332656" y="3232744"/>
          <a:ext cx="6192689" cy="547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788895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331037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69659"/>
              </p:ext>
            </p:extLst>
          </p:nvPr>
        </p:nvGraphicFramePr>
        <p:xfrm>
          <a:off x="331200" y="7668000"/>
          <a:ext cx="6192000" cy="5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Estimated Tumor Mutation Burden 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Microsatellite Instability (MSI) 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%</a:t>
                      </a:r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264514"/>
              </p:ext>
            </p:extLst>
          </p:nvPr>
        </p:nvGraphicFramePr>
        <p:xfrm>
          <a:off x="280355" y="784632"/>
          <a:ext cx="6316998" cy="835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3. Failed gene: </a:t>
            </a:r>
            <a:r>
              <a:rPr lang="en-US" altLang="ko-KR" sz="1200" dirty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Large rearrangements in BRCA1/2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</a:t>
            </a:r>
            <a:r>
              <a:rPr lang="ko-KR" altLang="fr-FR" sz="1200" b="1" dirty="0"/>
              <a:t> </a:t>
            </a:r>
            <a:r>
              <a:rPr lang="fr-FR" altLang="ko-KR" sz="1200" b="1" dirty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  <a:endParaRPr lang="en-US" altLang="ko-KR" sz="900" dirty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5076056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Specification</a:t>
            </a:r>
            <a:endParaRPr lang="ko-KR" altLang="en-US" sz="1200" b="1" dirty="0"/>
          </a:p>
        </p:txBody>
      </p:sp>
      <p:sp>
        <p:nvSpPr>
          <p:cNvPr id="16" name="TextBox 15"/>
          <p:cNvSpPr txBox="1"/>
          <p:nvPr/>
        </p:nvSpPr>
        <p:spPr>
          <a:xfrm>
            <a:off x="332656" y="561753"/>
            <a:ext cx="619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검사시약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 err="1">
                <a:latin typeface="+mj-lt"/>
              </a:rPr>
              <a:t>AllPrep</a:t>
            </a:r>
            <a:r>
              <a:rPr lang="en-US" altLang="ko-KR" sz="1000" dirty="0">
                <a:latin typeface="+mj-lt"/>
              </a:rPr>
              <a:t> DNA/RNA FFPE Kit (50) [</a:t>
            </a:r>
            <a:r>
              <a:rPr lang="en-US" altLang="ko-KR" sz="1000" dirty="0" err="1">
                <a:latin typeface="+mj-lt"/>
              </a:rPr>
              <a:t>Qiagen</a:t>
            </a:r>
            <a:r>
              <a:rPr lang="en-US" altLang="ko-KR" sz="1000" dirty="0">
                <a:latin typeface="+mj-lt"/>
              </a:rPr>
              <a:t>], TruSight™ Oncology 500 kit [Illumina]</a:t>
            </a:r>
          </a:p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검사방법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/>
              <a:t>NGS targeted DNA/RNA sequencing (Library : Hybrid capture)</a:t>
            </a:r>
            <a:endParaRPr lang="en-US" altLang="ko-KR" sz="1000" dirty="0">
              <a:latin typeface="+mj-lt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검사정보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439017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630705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Filter history</a:t>
            </a:r>
            <a:r>
              <a:rPr lang="ko-KR" altLang="en-US" sz="1200" b="1" dirty="0"/>
              <a:t> </a:t>
            </a:r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857762"/>
            <a:ext cx="6336704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3142873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494801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/>
              <a:t>▣ DNA, RNA </a:t>
            </a:r>
            <a:r>
              <a:rPr lang="en-US" altLang="ko-KR" sz="700" b="1" dirty="0"/>
              <a:t>(</a:t>
            </a:r>
            <a:r>
              <a:rPr lang="en-US" altLang="ko-KR" sz="700" b="1" dirty="0" err="1"/>
              <a:t>Qubit</a:t>
            </a:r>
            <a:r>
              <a:rPr lang="en-US" altLang="ko-KR" sz="700" b="1" dirty="0"/>
              <a:t> </a:t>
            </a:r>
            <a:r>
              <a:rPr lang="ko-KR" altLang="en-US" sz="700" b="1" dirty="0"/>
              <a:t>농도</a:t>
            </a:r>
            <a:r>
              <a:rPr lang="en-US" altLang="ko-KR" sz="700" b="1" dirty="0"/>
              <a:t>)</a:t>
            </a:r>
            <a:endParaRPr lang="ko-KR" altLang="en-US" sz="700" b="1" dirty="0"/>
          </a:p>
        </p:txBody>
      </p:sp>
      <p:sp>
        <p:nvSpPr>
          <p:cNvPr id="8" name="직사각형 7"/>
          <p:cNvSpPr/>
          <p:nvPr/>
        </p:nvSpPr>
        <p:spPr>
          <a:xfrm>
            <a:off x="404664" y="4750132"/>
            <a:ext cx="4738836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/>
              <a:t>DRAGEN TSO500</a:t>
            </a:r>
            <a:r>
              <a:rPr lang="en-US" altLang="ko-KR" sz="1050" dirty="0"/>
              <a:t> ( Workflow Version : 2.5.2 )</a:t>
            </a:r>
            <a:endParaRPr lang="ko-KR" altLang="en-US" sz="1050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006631"/>
              </p:ext>
            </p:extLst>
          </p:nvPr>
        </p:nvGraphicFramePr>
        <p:xfrm>
          <a:off x="685800" y="5364088"/>
          <a:ext cx="5551512" cy="3431588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2732149327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1281755945"/>
                    </a:ext>
                  </a:extLst>
                </a:gridCol>
              </a:tblGrid>
              <a:tr h="2888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</a:t>
                      </a: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Oncology 500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144152"/>
                  </a:ext>
                </a:extLst>
              </a:tr>
              <a:tr h="201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550Dx  or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60796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 358 kb RNA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87711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7205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RNA‡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2547"/>
                  </a:ext>
                </a:extLst>
              </a:tr>
              <a:tr h="43770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0.65㎣ from FFPE tissue 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samples (5 slides cut at 10 microns thick)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8587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960087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700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039286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36599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956572"/>
                  </a:ext>
                </a:extLst>
              </a:tr>
              <a:tr h="577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5% VAF for small variants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 copies per ng RNA input for fusions</a:t>
                      </a:r>
                      <a:b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1.5x fold-change for CNVs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031292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&gt;96% (for all variant types at 5% VAF)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25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0091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32656" y="1248615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Reference genome : </a:t>
            </a:r>
            <a:r>
              <a:rPr lang="en-US" altLang="ko-KR" sz="1000" dirty="0" err="1">
                <a:latin typeface="+mj-lt"/>
              </a:rPr>
              <a:t>Homo_sapiens</a:t>
            </a:r>
            <a:r>
              <a:rPr lang="en-US" altLang="ko-KR" sz="1000" dirty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844000"/>
            <a:ext cx="266932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/>
              <a:t>                    </a:t>
            </a:r>
            <a:r>
              <a:rPr dirty="0"/>
              <a:t>RNA (ng/</a:t>
            </a:r>
            <a:r>
              <a:rPr dirty="0" err="1"/>
              <a:t>ul</a:t>
            </a:r>
            <a:r>
              <a:rPr dirty="0"/>
              <a:t>) 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35370"/>
              </p:ext>
            </p:extLst>
          </p:nvPr>
        </p:nvGraphicFramePr>
        <p:xfrm>
          <a:off x="406799" y="3445200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31200" y="1072800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/>
              <a:t>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59734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TruSight Oncology 500 panel Assay 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검사기관 </a:t>
            </a:r>
            <a:r>
              <a:rPr lang="en-US" altLang="ko-KR" sz="700" dirty="0"/>
              <a:t>: </a:t>
            </a:r>
            <a:r>
              <a:rPr lang="ko-KR" altLang="en-US" sz="700" dirty="0" err="1"/>
              <a:t>세브란스병원</a:t>
            </a:r>
            <a:r>
              <a:rPr lang="ko-KR" altLang="en-US" sz="700" dirty="0"/>
              <a:t> 병리과 분자병리 검사실</a:t>
            </a:r>
            <a:endParaRPr lang="en-US" altLang="ko-KR" sz="700" dirty="0"/>
          </a:p>
          <a:p>
            <a:r>
              <a:rPr lang="ko-KR" altLang="en-US" sz="700" dirty="0"/>
              <a:t>서울시 서대문구 연세로 </a:t>
            </a:r>
            <a:r>
              <a:rPr lang="en-US" altLang="ko-KR" sz="700" dirty="0"/>
              <a:t>50-1 (</a:t>
            </a:r>
            <a:r>
              <a:rPr lang="ko-KR" altLang="en-US" sz="700" dirty="0"/>
              <a:t>신촌동 </a:t>
            </a:r>
            <a:r>
              <a:rPr lang="en-US" altLang="ko-KR" sz="700" dirty="0"/>
              <a:t>134) </a:t>
            </a:r>
            <a:r>
              <a:rPr lang="ko-KR" altLang="en-US" sz="700" dirty="0"/>
              <a:t>세브란스병원 병리과</a:t>
            </a:r>
            <a:r>
              <a:rPr lang="en-US" altLang="ko-KR" sz="700" dirty="0"/>
              <a:t> 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672933"/>
              </p:ext>
            </p:extLst>
          </p:nvPr>
        </p:nvGraphicFramePr>
        <p:xfrm>
          <a:off x="261764" y="528528"/>
          <a:ext cx="6278096" cy="7499855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42912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2948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61505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78680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9434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/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11144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by</a:t>
            </a:r>
            <a:r>
              <a:rPr b="0" dirty="0"/>
              <a:t>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94929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Signed by</a:t>
            </a:r>
            <a:r>
              <a:rPr b="0" dirty="0"/>
              <a:t>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892213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12870</TotalTime>
  <Words>1321</Words>
  <Application>Microsoft Macintosh PowerPoint</Application>
  <PresentationFormat>화면 슬라이드 쇼(4:3)</PresentationFormat>
  <Paragraphs>734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Siwon Lee</cp:lastModifiedBy>
  <cp:revision>496</cp:revision>
  <dcterms:created xsi:type="dcterms:W3CDTF">2012-09-25T01:07:48Z</dcterms:created>
  <dcterms:modified xsi:type="dcterms:W3CDTF">2026-02-24T06:51:47Z</dcterms:modified>
</cp:coreProperties>
</file>